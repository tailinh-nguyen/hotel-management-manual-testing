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TT Ramillas Bold" charset="1" panose="020E0000080000020004"/>
      <p:regular r:id="rId20"/>
    </p:embeddedFont>
    <p:embeddedFont>
      <p:font typeface="Be Vietnam Ultra-Bold" charset="1" panose="00000900000000000000"/>
      <p:regular r:id="rId21"/>
    </p:embeddedFont>
    <p:embeddedFont>
      <p:font typeface="Be Vietnam" charset="1" panose="00000500000000000000"/>
      <p:regular r:id="rId22"/>
    </p:embeddedFont>
    <p:embeddedFont>
      <p:font typeface="TT Ramillas" charset="1" panose="020E0000080000020004"/>
      <p:regular r:id="rId23"/>
    </p:embeddedFont>
    <p:embeddedFont>
      <p:font typeface="The Seasons" charset="1" panose="00000000000000000000"/>
      <p:regular r:id="rId24"/>
    </p:embeddedFont>
    <p:embeddedFont>
      <p:font typeface="Elika Gorica" charset="1" panose="00000000000000000000"/>
      <p:regular r:id="rId25"/>
    </p:embeddedFont>
    <p:embeddedFont>
      <p:font typeface="Poppins" charset="1" panose="00000500000000000000"/>
      <p:regular r:id="rId26"/>
    </p:embeddedFont>
    <p:embeddedFont>
      <p:font typeface="The Seasons Bold" charset="1" panose="0000000000000000000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png" Type="http://schemas.openxmlformats.org/officeDocument/2006/relationships/image"/><Relationship Id="rId4" Target="../media/image6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svg" Type="http://schemas.openxmlformats.org/officeDocument/2006/relationships/image"/><Relationship Id="rId4" Target="../media/image10.jpeg" Type="http://schemas.openxmlformats.org/officeDocument/2006/relationships/image"/><Relationship Id="rId5" Target="../media/image1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7.png" Type="http://schemas.openxmlformats.org/officeDocument/2006/relationships/image"/><Relationship Id="rId4" Target="../media/image18.png" Type="http://schemas.openxmlformats.org/officeDocument/2006/relationships/image"/><Relationship Id="rId5" Target="../media/image19.png" Type="http://schemas.openxmlformats.org/officeDocument/2006/relationships/image"/><Relationship Id="rId6" Target="../media/image20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jpeg" Type="http://schemas.openxmlformats.org/officeDocument/2006/relationships/image"/><Relationship Id="rId3" Target="../media/image22.png" Type="http://schemas.openxmlformats.org/officeDocument/2006/relationships/image"/><Relationship Id="rId4" Target="../media/image23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Relationship Id="rId3" Target="../media/image25.png" Type="http://schemas.openxmlformats.org/officeDocument/2006/relationships/image"/><Relationship Id="rId4" Target="../media/image26.svg" Type="http://schemas.openxmlformats.org/officeDocument/2006/relationships/image"/><Relationship Id="rId5" Target="../media/image27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8.jpeg" Type="http://schemas.openxmlformats.org/officeDocument/2006/relationships/image"/><Relationship Id="rId3" Target="../media/image29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gradFill rotWithShape="true">
          <a:gsLst>
            <a:gs pos="0">
              <a:srgbClr val="07236A">
                <a:alpha val="100000"/>
              </a:srgbClr>
            </a:gs>
            <a:gs pos="100000">
              <a:srgbClr val="4A5E93">
                <a:alpha val="2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55642" y="1037115"/>
            <a:ext cx="12031063" cy="4861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38"/>
              </a:lnSpc>
            </a:pPr>
            <a:r>
              <a:rPr lang="en-US" sz="12664" b="true">
                <a:solidFill>
                  <a:srgbClr val="FFFFFF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HOTEL MANAGEMENT ONLINE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44000" y="5850582"/>
            <a:ext cx="7085410" cy="4163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1"/>
              </a:lnSpc>
            </a:pPr>
            <a:r>
              <a:rPr lang="en-US" b="true" sz="2458" spc="317">
                <a:solidFill>
                  <a:srgbClr val="FFFFFF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GIẢNG VIÊN: PHẠM THUẬN THÀNH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144000" y="6600431"/>
            <a:ext cx="7085410" cy="127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1"/>
              </a:lnSpc>
            </a:pPr>
            <a:r>
              <a:rPr lang="en-US" b="true" sz="2458" spc="317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MEMBERS:</a:t>
            </a:r>
          </a:p>
          <a:p>
            <a:pPr algn="l">
              <a:lnSpc>
                <a:spcPts val="3441"/>
              </a:lnSpc>
            </a:pPr>
            <a:r>
              <a:rPr lang="en-US" b="true" sz="2458" spc="317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NGUYỄN THỊ TÀI LINH</a:t>
            </a:r>
          </a:p>
          <a:p>
            <a:pPr algn="l">
              <a:lnSpc>
                <a:spcPts val="3441"/>
              </a:lnSpc>
            </a:pPr>
            <a:r>
              <a:rPr lang="en-US" b="true" sz="2458" spc="317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NGUYỄN VĂN TIẾN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7236A">
                <a:alpha val="100000"/>
              </a:srgbClr>
            </a:gs>
            <a:gs pos="100000">
              <a:srgbClr val="4A5E93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53537" y="667907"/>
            <a:ext cx="8115300" cy="3463716"/>
            <a:chOff x="0" y="0"/>
            <a:chExt cx="1257272" cy="5366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57272" cy="536620"/>
            </a:xfrm>
            <a:custGeom>
              <a:avLst/>
              <a:gdLst/>
              <a:ahLst/>
              <a:cxnLst/>
              <a:rect r="r" b="b" t="t" l="l"/>
              <a:pathLst>
                <a:path h="536620" w="1257272">
                  <a:moveTo>
                    <a:pt x="21942" y="0"/>
                  </a:moveTo>
                  <a:lnTo>
                    <a:pt x="1235331" y="0"/>
                  </a:lnTo>
                  <a:cubicBezTo>
                    <a:pt x="1247449" y="0"/>
                    <a:pt x="1257272" y="9824"/>
                    <a:pt x="1257272" y="21942"/>
                  </a:cubicBezTo>
                  <a:lnTo>
                    <a:pt x="1257272" y="514678"/>
                  </a:lnTo>
                  <a:cubicBezTo>
                    <a:pt x="1257272" y="520498"/>
                    <a:pt x="1254961" y="526079"/>
                    <a:pt x="1250846" y="530194"/>
                  </a:cubicBezTo>
                  <a:cubicBezTo>
                    <a:pt x="1246731" y="534308"/>
                    <a:pt x="1241150" y="536620"/>
                    <a:pt x="1235331" y="536620"/>
                  </a:cubicBezTo>
                  <a:lnTo>
                    <a:pt x="21942" y="536620"/>
                  </a:lnTo>
                  <a:cubicBezTo>
                    <a:pt x="16122" y="536620"/>
                    <a:pt x="10541" y="534308"/>
                    <a:pt x="6427" y="530194"/>
                  </a:cubicBezTo>
                  <a:cubicBezTo>
                    <a:pt x="2312" y="526079"/>
                    <a:pt x="0" y="520498"/>
                    <a:pt x="0" y="514678"/>
                  </a:cubicBezTo>
                  <a:lnTo>
                    <a:pt x="0" y="21942"/>
                  </a:lnTo>
                  <a:cubicBezTo>
                    <a:pt x="0" y="16122"/>
                    <a:pt x="2312" y="10541"/>
                    <a:pt x="6427" y="6427"/>
                  </a:cubicBezTo>
                  <a:cubicBezTo>
                    <a:pt x="10541" y="2312"/>
                    <a:pt x="16122" y="0"/>
                    <a:pt x="21942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331" r="0" b="-1331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817474" y="572511"/>
            <a:ext cx="8115300" cy="3463716"/>
            <a:chOff x="0" y="0"/>
            <a:chExt cx="1257272" cy="53662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57272" cy="536620"/>
            </a:xfrm>
            <a:custGeom>
              <a:avLst/>
              <a:gdLst/>
              <a:ahLst/>
              <a:cxnLst/>
              <a:rect r="r" b="b" t="t" l="l"/>
              <a:pathLst>
                <a:path h="536620" w="1257272">
                  <a:moveTo>
                    <a:pt x="21942" y="0"/>
                  </a:moveTo>
                  <a:lnTo>
                    <a:pt x="1235331" y="0"/>
                  </a:lnTo>
                  <a:cubicBezTo>
                    <a:pt x="1247449" y="0"/>
                    <a:pt x="1257272" y="9824"/>
                    <a:pt x="1257272" y="21942"/>
                  </a:cubicBezTo>
                  <a:lnTo>
                    <a:pt x="1257272" y="514678"/>
                  </a:lnTo>
                  <a:cubicBezTo>
                    <a:pt x="1257272" y="520498"/>
                    <a:pt x="1254961" y="526079"/>
                    <a:pt x="1250846" y="530194"/>
                  </a:cubicBezTo>
                  <a:cubicBezTo>
                    <a:pt x="1246731" y="534308"/>
                    <a:pt x="1241150" y="536620"/>
                    <a:pt x="1235331" y="536620"/>
                  </a:cubicBezTo>
                  <a:lnTo>
                    <a:pt x="21942" y="536620"/>
                  </a:lnTo>
                  <a:cubicBezTo>
                    <a:pt x="16122" y="536620"/>
                    <a:pt x="10541" y="534308"/>
                    <a:pt x="6427" y="530194"/>
                  </a:cubicBezTo>
                  <a:cubicBezTo>
                    <a:pt x="2312" y="526079"/>
                    <a:pt x="0" y="520498"/>
                    <a:pt x="0" y="514678"/>
                  </a:cubicBezTo>
                  <a:lnTo>
                    <a:pt x="0" y="21942"/>
                  </a:lnTo>
                  <a:cubicBezTo>
                    <a:pt x="0" y="16122"/>
                    <a:pt x="2312" y="10541"/>
                    <a:pt x="6427" y="6427"/>
                  </a:cubicBezTo>
                  <a:cubicBezTo>
                    <a:pt x="10541" y="2312"/>
                    <a:pt x="16122" y="0"/>
                    <a:pt x="21942" y="0"/>
                  </a:cubicBezTo>
                  <a:close/>
                </a:path>
              </a:pathLst>
            </a:custGeom>
            <a:blipFill>
              <a:blip r:embed="rId3"/>
              <a:stretch>
                <a:fillRect l="0" t="-373" r="0" b="-373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6038324" y="4322123"/>
            <a:ext cx="6211352" cy="11584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772"/>
              </a:lnSpc>
            </a:pPr>
            <a:r>
              <a:rPr lang="en-US" sz="8860" b="true">
                <a:solidFill>
                  <a:srgbClr val="FFFFFF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CONTENT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073606" y="5652177"/>
            <a:ext cx="8492318" cy="4560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4"/>
              </a:lnSpc>
            </a:pPr>
            <a:r>
              <a:rPr lang="en-US" sz="3529">
                <a:solidFill>
                  <a:srgbClr val="FFFFFF"/>
                </a:solidFill>
                <a:latin typeface="Be Vietnam"/>
                <a:ea typeface="Be Vietnam"/>
                <a:cs typeface="Be Vietnam"/>
                <a:sym typeface="Be Vietnam"/>
              </a:rPr>
              <a:t>1. PROJECT OVERVIEW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73606" y="6667422"/>
            <a:ext cx="7455882" cy="456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4"/>
              </a:lnSpc>
            </a:pPr>
            <a:r>
              <a:rPr lang="en-US" sz="3530">
                <a:solidFill>
                  <a:srgbClr val="FFFFFF"/>
                </a:solidFill>
                <a:latin typeface="Be Vietnam"/>
                <a:ea typeface="Be Vietnam"/>
                <a:cs typeface="Be Vietnam"/>
                <a:sym typeface="Be Vietnam"/>
              </a:rPr>
              <a:t>2. TEST PLANNING &amp; EXECUTION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129180" y="7632215"/>
            <a:ext cx="6164014" cy="456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4"/>
              </a:lnSpc>
            </a:pPr>
            <a:r>
              <a:rPr lang="en-US" sz="3530">
                <a:solidFill>
                  <a:srgbClr val="FFFFFF"/>
                </a:solidFill>
                <a:latin typeface="Be Vietnam"/>
                <a:ea typeface="Be Vietnam"/>
                <a:cs typeface="Be Vietnam"/>
                <a:sym typeface="Be Vietnam"/>
              </a:rPr>
              <a:t>3. SYSTEM DEMONSTRATION 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129180" y="8593136"/>
            <a:ext cx="6164014" cy="456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4"/>
              </a:lnSpc>
            </a:pPr>
            <a:r>
              <a:rPr lang="en-US" sz="3530">
                <a:solidFill>
                  <a:srgbClr val="FFFFFF"/>
                </a:solidFill>
                <a:latin typeface="Be Vietnam"/>
                <a:ea typeface="Be Vietnam"/>
                <a:cs typeface="Be Vietnam"/>
                <a:sym typeface="Be Vietnam"/>
              </a:rPr>
              <a:t>4. CONCLUSION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529488" y="6356453"/>
            <a:ext cx="8115300" cy="3463716"/>
            <a:chOff x="0" y="0"/>
            <a:chExt cx="1257272" cy="5366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257272" cy="536620"/>
            </a:xfrm>
            <a:custGeom>
              <a:avLst/>
              <a:gdLst/>
              <a:ahLst/>
              <a:cxnLst/>
              <a:rect r="r" b="b" t="t" l="l"/>
              <a:pathLst>
                <a:path h="536620" w="1257272">
                  <a:moveTo>
                    <a:pt x="21942" y="0"/>
                  </a:moveTo>
                  <a:lnTo>
                    <a:pt x="1235331" y="0"/>
                  </a:lnTo>
                  <a:cubicBezTo>
                    <a:pt x="1247449" y="0"/>
                    <a:pt x="1257272" y="9824"/>
                    <a:pt x="1257272" y="21942"/>
                  </a:cubicBezTo>
                  <a:lnTo>
                    <a:pt x="1257272" y="514678"/>
                  </a:lnTo>
                  <a:cubicBezTo>
                    <a:pt x="1257272" y="520498"/>
                    <a:pt x="1254961" y="526079"/>
                    <a:pt x="1250846" y="530194"/>
                  </a:cubicBezTo>
                  <a:cubicBezTo>
                    <a:pt x="1246731" y="534308"/>
                    <a:pt x="1241150" y="536620"/>
                    <a:pt x="1235331" y="536620"/>
                  </a:cubicBezTo>
                  <a:lnTo>
                    <a:pt x="21942" y="536620"/>
                  </a:lnTo>
                  <a:cubicBezTo>
                    <a:pt x="16122" y="536620"/>
                    <a:pt x="10541" y="534308"/>
                    <a:pt x="6427" y="530194"/>
                  </a:cubicBezTo>
                  <a:cubicBezTo>
                    <a:pt x="2312" y="526079"/>
                    <a:pt x="0" y="520498"/>
                    <a:pt x="0" y="514678"/>
                  </a:cubicBezTo>
                  <a:lnTo>
                    <a:pt x="0" y="21942"/>
                  </a:lnTo>
                  <a:cubicBezTo>
                    <a:pt x="0" y="16122"/>
                    <a:pt x="2312" y="10541"/>
                    <a:pt x="6427" y="6427"/>
                  </a:cubicBezTo>
                  <a:cubicBezTo>
                    <a:pt x="10541" y="2312"/>
                    <a:pt x="16122" y="0"/>
                    <a:pt x="21942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53" r="0" b="-53"/>
              </a:stretch>
            </a:blipFill>
          </p:spPr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7236A">
                <a:alpha val="100000"/>
              </a:srgbClr>
            </a:gs>
            <a:gs pos="100000">
              <a:srgbClr val="4A5E93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574879" y="1188882"/>
            <a:ext cx="8713121" cy="9098118"/>
            <a:chOff x="0" y="0"/>
            <a:chExt cx="1349891" cy="1409537"/>
          </a:xfrm>
        </p:grpSpPr>
        <p:sp>
          <p:nvSpPr>
            <p:cNvPr name="Freeform 3" id="3"/>
            <p:cNvSpPr/>
            <p:nvPr/>
          </p:nvSpPr>
          <p:spPr>
            <a:xfrm flipH="true" flipV="false" rot="0">
              <a:off x="0" y="0"/>
              <a:ext cx="1349891" cy="1409537"/>
            </a:xfrm>
            <a:custGeom>
              <a:avLst/>
              <a:gdLst/>
              <a:ahLst/>
              <a:cxnLst/>
              <a:rect r="r" b="b" t="t" l="l"/>
              <a:pathLst>
                <a:path h="1409537" w="1349891">
                  <a:moveTo>
                    <a:pt x="1349891" y="0"/>
                  </a:moveTo>
                  <a:lnTo>
                    <a:pt x="0" y="0"/>
                  </a:lnTo>
                  <a:lnTo>
                    <a:pt x="0" y="1409537"/>
                  </a:lnTo>
                  <a:lnTo>
                    <a:pt x="1349891" y="1409537"/>
                  </a:lnTo>
                  <a:close/>
                </a:path>
              </a:pathLst>
            </a:custGeom>
            <a:blipFill>
              <a:blip r:embed="rId2"/>
              <a:stretch>
                <a:fillRect l="0" t="-29919" r="0" b="-1382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2308299" y="4896584"/>
            <a:ext cx="4970399" cy="4360742"/>
            <a:chOff x="0" y="0"/>
            <a:chExt cx="1569917" cy="137735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69917" cy="1377355"/>
            </a:xfrm>
            <a:custGeom>
              <a:avLst/>
              <a:gdLst/>
              <a:ahLst/>
              <a:cxnLst/>
              <a:rect r="r" b="b" t="t" l="l"/>
              <a:pathLst>
                <a:path h="1377355" w="1569917">
                  <a:moveTo>
                    <a:pt x="54516" y="0"/>
                  </a:moveTo>
                  <a:lnTo>
                    <a:pt x="1515401" y="0"/>
                  </a:lnTo>
                  <a:cubicBezTo>
                    <a:pt x="1545509" y="0"/>
                    <a:pt x="1569917" y="24408"/>
                    <a:pt x="1569917" y="54516"/>
                  </a:cubicBezTo>
                  <a:lnTo>
                    <a:pt x="1569917" y="1322839"/>
                  </a:lnTo>
                  <a:cubicBezTo>
                    <a:pt x="1569917" y="1352947"/>
                    <a:pt x="1545509" y="1377355"/>
                    <a:pt x="1515401" y="1377355"/>
                  </a:cubicBezTo>
                  <a:lnTo>
                    <a:pt x="54516" y="1377355"/>
                  </a:lnTo>
                  <a:cubicBezTo>
                    <a:pt x="24408" y="1377355"/>
                    <a:pt x="0" y="1352947"/>
                    <a:pt x="0" y="1322839"/>
                  </a:cubicBezTo>
                  <a:lnTo>
                    <a:pt x="0" y="54516"/>
                  </a:lnTo>
                  <a:cubicBezTo>
                    <a:pt x="0" y="24408"/>
                    <a:pt x="24408" y="0"/>
                    <a:pt x="545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7236A">
                    <a:alpha val="100000"/>
                  </a:srgbClr>
                </a:gs>
                <a:gs pos="100000">
                  <a:srgbClr val="4A5E93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569917" cy="139640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2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7792714" y="4896584"/>
            <a:ext cx="4970399" cy="4360742"/>
            <a:chOff x="0" y="0"/>
            <a:chExt cx="1569917" cy="137735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69917" cy="1377355"/>
            </a:xfrm>
            <a:custGeom>
              <a:avLst/>
              <a:gdLst/>
              <a:ahLst/>
              <a:cxnLst/>
              <a:rect r="r" b="b" t="t" l="l"/>
              <a:pathLst>
                <a:path h="1377355" w="1569917">
                  <a:moveTo>
                    <a:pt x="54516" y="0"/>
                  </a:moveTo>
                  <a:lnTo>
                    <a:pt x="1515401" y="0"/>
                  </a:lnTo>
                  <a:cubicBezTo>
                    <a:pt x="1545509" y="0"/>
                    <a:pt x="1569917" y="24408"/>
                    <a:pt x="1569917" y="54516"/>
                  </a:cubicBezTo>
                  <a:lnTo>
                    <a:pt x="1569917" y="1322839"/>
                  </a:lnTo>
                  <a:cubicBezTo>
                    <a:pt x="1569917" y="1352947"/>
                    <a:pt x="1545509" y="1377355"/>
                    <a:pt x="1515401" y="1377355"/>
                  </a:cubicBezTo>
                  <a:lnTo>
                    <a:pt x="54516" y="1377355"/>
                  </a:lnTo>
                  <a:cubicBezTo>
                    <a:pt x="24408" y="1377355"/>
                    <a:pt x="0" y="1352947"/>
                    <a:pt x="0" y="1322839"/>
                  </a:cubicBezTo>
                  <a:lnTo>
                    <a:pt x="0" y="54516"/>
                  </a:lnTo>
                  <a:cubicBezTo>
                    <a:pt x="0" y="24408"/>
                    <a:pt x="24408" y="0"/>
                    <a:pt x="5451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4A5E93">
                    <a:alpha val="100000"/>
                  </a:srgbClr>
                </a:gs>
                <a:gs pos="100000">
                  <a:srgbClr val="07326A">
                    <a:alpha val="73000"/>
                  </a:srgbClr>
                </a:gs>
              </a:gsLst>
              <a:lin ang="0"/>
            </a:grad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569917" cy="139640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2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-10800000">
            <a:off x="1028700" y="5481711"/>
            <a:ext cx="625933" cy="416530"/>
          </a:xfrm>
          <a:custGeom>
            <a:avLst/>
            <a:gdLst/>
            <a:ahLst/>
            <a:cxnLst/>
            <a:rect r="r" b="b" t="t" l="l"/>
            <a:pathLst>
              <a:path h="416530" w="625933">
                <a:moveTo>
                  <a:pt x="0" y="0"/>
                </a:moveTo>
                <a:lnTo>
                  <a:pt x="625933" y="0"/>
                </a:lnTo>
                <a:lnTo>
                  <a:pt x="625933" y="416530"/>
                </a:lnTo>
                <a:lnTo>
                  <a:pt x="0" y="4165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654633" y="2195411"/>
            <a:ext cx="13397012" cy="14016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85"/>
              </a:lnSpc>
            </a:pPr>
            <a:r>
              <a:rPr lang="en-US" sz="7864">
                <a:solidFill>
                  <a:srgbClr val="FFFFFF"/>
                </a:solidFill>
                <a:latin typeface="Be Vietnam"/>
                <a:ea typeface="Be Vietnam"/>
                <a:cs typeface="Be Vietnam"/>
                <a:sym typeface="Be Vietnam"/>
              </a:rPr>
              <a:t>01. PROJECT INTRODUCTION</a:t>
            </a:r>
          </a:p>
          <a:p>
            <a:pPr algn="l">
              <a:lnSpc>
                <a:spcPts val="3354"/>
              </a:lnSpc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2702816" y="5444144"/>
            <a:ext cx="991399" cy="8424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90"/>
              </a:lnSpc>
            </a:pPr>
            <a:r>
              <a:rPr lang="en-US" sz="5832">
                <a:solidFill>
                  <a:srgbClr val="FFFFFF"/>
                </a:solidFill>
                <a:latin typeface="TT Ramillas"/>
                <a:ea typeface="TT Ramillas"/>
                <a:cs typeface="TT Ramillas"/>
                <a:sym typeface="TT Ramillas"/>
              </a:rPr>
              <a:t>01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665297" y="5680451"/>
            <a:ext cx="3510235" cy="39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6"/>
              </a:lnSpc>
            </a:pPr>
            <a:r>
              <a:rPr lang="en-US" sz="2525" b="true">
                <a:solidFill>
                  <a:srgbClr val="FFFFFF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PROJECT OBJECTIVES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505557" y="6277106"/>
            <a:ext cx="4575882" cy="24985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988" spc="125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• Verify all core hotel booking functions.</a:t>
            </a:r>
          </a:p>
          <a:p>
            <a:pPr algn="l">
              <a:lnSpc>
                <a:spcPts val="2485"/>
              </a:lnSpc>
            </a:pPr>
            <a:r>
              <a:rPr lang="en-US" sz="1988" spc="125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• Ensure system quality and reliability.</a:t>
            </a:r>
          </a:p>
          <a:p>
            <a:pPr algn="l">
              <a:lnSpc>
                <a:spcPts val="2485"/>
              </a:lnSpc>
            </a:pPr>
            <a:r>
              <a:rPr lang="en-US" sz="1988" spc="125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• Detect and report software defects.</a:t>
            </a:r>
          </a:p>
          <a:p>
            <a:pPr algn="l">
              <a:lnSpc>
                <a:spcPts val="2485"/>
              </a:lnSpc>
            </a:pPr>
            <a:r>
              <a:rPr lang="en-US" sz="1988" spc="125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• Validate requirements through manual testing.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8179668" y="5444144"/>
            <a:ext cx="991399" cy="8424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90"/>
              </a:lnSpc>
            </a:pPr>
            <a:r>
              <a:rPr lang="en-US" sz="5832">
                <a:solidFill>
                  <a:srgbClr val="FFFFFF"/>
                </a:solidFill>
                <a:latin typeface="TT Ramillas"/>
                <a:ea typeface="TT Ramillas"/>
                <a:cs typeface="TT Ramillas"/>
                <a:sym typeface="TT Ramillas"/>
              </a:rPr>
              <a:t>02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186195" y="5687722"/>
            <a:ext cx="3189965" cy="4115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8"/>
              </a:lnSpc>
            </a:pPr>
            <a:r>
              <a:rPr lang="en-US" sz="2694" b="true">
                <a:solidFill>
                  <a:srgbClr val="FFFFFF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PROJECT SCOPE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965598" y="6277106"/>
            <a:ext cx="4944978" cy="17523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0"/>
              </a:lnSpc>
            </a:pPr>
            <a:r>
              <a:rPr lang="en-US" sz="2224" spc="140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• Customer Module</a:t>
            </a:r>
          </a:p>
          <a:p>
            <a:pPr algn="l">
              <a:lnSpc>
                <a:spcPts val="2780"/>
              </a:lnSpc>
            </a:pPr>
            <a:r>
              <a:rPr lang="en-US" sz="2224" spc="140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• Seller Module</a:t>
            </a:r>
          </a:p>
          <a:p>
            <a:pPr algn="l">
              <a:lnSpc>
                <a:spcPts val="2780"/>
              </a:lnSpc>
            </a:pPr>
            <a:r>
              <a:rPr lang="en-US" sz="2224" spc="140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• Administrator Module</a:t>
            </a:r>
          </a:p>
          <a:p>
            <a:pPr algn="l">
              <a:lnSpc>
                <a:spcPts val="2780"/>
              </a:lnSpc>
            </a:pPr>
            <a:r>
              <a:rPr lang="en-US" sz="2224" spc="140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• Functional Testing</a:t>
            </a:r>
          </a:p>
          <a:p>
            <a:pPr algn="l">
              <a:lnSpc>
                <a:spcPts val="2780"/>
              </a:lnSpc>
            </a:pPr>
            <a:r>
              <a:rPr lang="en-US" sz="2224" spc="140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• Basic Non-functional Testing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1028700"/>
            <a:ext cx="10189376" cy="9258300"/>
            <a:chOff x="0" y="0"/>
            <a:chExt cx="1578601" cy="1434353"/>
          </a:xfrm>
        </p:grpSpPr>
        <p:sp>
          <p:nvSpPr>
            <p:cNvPr name="Freeform 3" id="3"/>
            <p:cNvSpPr/>
            <p:nvPr/>
          </p:nvSpPr>
          <p:spPr>
            <a:xfrm flipH="true" flipV="false" rot="0">
              <a:off x="0" y="0"/>
              <a:ext cx="1578601" cy="1434353"/>
            </a:xfrm>
            <a:custGeom>
              <a:avLst/>
              <a:gdLst/>
              <a:ahLst/>
              <a:cxnLst/>
              <a:rect r="r" b="b" t="t" l="l"/>
              <a:pathLst>
                <a:path h="1434353" w="1578601">
                  <a:moveTo>
                    <a:pt x="1578601" y="0"/>
                  </a:moveTo>
                  <a:lnTo>
                    <a:pt x="0" y="0"/>
                  </a:lnTo>
                  <a:lnTo>
                    <a:pt x="0" y="1434353"/>
                  </a:lnTo>
                  <a:lnTo>
                    <a:pt x="1578601" y="1434353"/>
                  </a:lnTo>
                  <a:close/>
                </a:path>
              </a:pathLst>
            </a:custGeom>
            <a:blipFill>
              <a:blip r:embed="rId2"/>
              <a:stretch>
                <a:fillRect l="-37035" t="-9179" r="-14912" b="-2407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8751188" y="5497682"/>
            <a:ext cx="4108462" cy="3942092"/>
            <a:chOff x="0" y="0"/>
            <a:chExt cx="1354524" cy="12996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54524" cy="1299673"/>
            </a:xfrm>
            <a:custGeom>
              <a:avLst/>
              <a:gdLst/>
              <a:ahLst/>
              <a:cxnLst/>
              <a:rect r="r" b="b" t="t" l="l"/>
              <a:pathLst>
                <a:path h="1299673" w="1354524">
                  <a:moveTo>
                    <a:pt x="65953" y="0"/>
                  </a:moveTo>
                  <a:lnTo>
                    <a:pt x="1288570" y="0"/>
                  </a:lnTo>
                  <a:cubicBezTo>
                    <a:pt x="1306062" y="0"/>
                    <a:pt x="1322838" y="6949"/>
                    <a:pt x="1335206" y="19317"/>
                  </a:cubicBezTo>
                  <a:cubicBezTo>
                    <a:pt x="1347575" y="31686"/>
                    <a:pt x="1354524" y="48461"/>
                    <a:pt x="1354524" y="65953"/>
                  </a:cubicBezTo>
                  <a:lnTo>
                    <a:pt x="1354524" y="1233720"/>
                  </a:lnTo>
                  <a:cubicBezTo>
                    <a:pt x="1354524" y="1251212"/>
                    <a:pt x="1347575" y="1267987"/>
                    <a:pt x="1335206" y="1280356"/>
                  </a:cubicBezTo>
                  <a:cubicBezTo>
                    <a:pt x="1322838" y="1292724"/>
                    <a:pt x="1306062" y="1299673"/>
                    <a:pt x="1288570" y="1299673"/>
                  </a:cubicBezTo>
                  <a:lnTo>
                    <a:pt x="65953" y="1299673"/>
                  </a:lnTo>
                  <a:cubicBezTo>
                    <a:pt x="48461" y="1299673"/>
                    <a:pt x="31686" y="1292724"/>
                    <a:pt x="19317" y="1280356"/>
                  </a:cubicBezTo>
                  <a:cubicBezTo>
                    <a:pt x="6949" y="1267987"/>
                    <a:pt x="0" y="1251212"/>
                    <a:pt x="0" y="1233720"/>
                  </a:cubicBezTo>
                  <a:lnTo>
                    <a:pt x="0" y="65953"/>
                  </a:lnTo>
                  <a:cubicBezTo>
                    <a:pt x="0" y="48461"/>
                    <a:pt x="6949" y="31686"/>
                    <a:pt x="19317" y="19317"/>
                  </a:cubicBezTo>
                  <a:cubicBezTo>
                    <a:pt x="31686" y="6949"/>
                    <a:pt x="48461" y="0"/>
                    <a:pt x="65953" y="0"/>
                  </a:cubicBezTo>
                  <a:close/>
                </a:path>
              </a:pathLst>
            </a:custGeom>
            <a:solidFill>
              <a:srgbClr val="07236A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354524" cy="1318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2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4351537" y="5497682"/>
            <a:ext cx="4108462" cy="3942092"/>
            <a:chOff x="0" y="0"/>
            <a:chExt cx="1354524" cy="129967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354524" cy="1299673"/>
            </a:xfrm>
            <a:custGeom>
              <a:avLst/>
              <a:gdLst/>
              <a:ahLst/>
              <a:cxnLst/>
              <a:rect r="r" b="b" t="t" l="l"/>
              <a:pathLst>
                <a:path h="1299673" w="1354524">
                  <a:moveTo>
                    <a:pt x="65953" y="0"/>
                  </a:moveTo>
                  <a:lnTo>
                    <a:pt x="1288570" y="0"/>
                  </a:lnTo>
                  <a:cubicBezTo>
                    <a:pt x="1306062" y="0"/>
                    <a:pt x="1322838" y="6949"/>
                    <a:pt x="1335206" y="19317"/>
                  </a:cubicBezTo>
                  <a:cubicBezTo>
                    <a:pt x="1347575" y="31686"/>
                    <a:pt x="1354524" y="48461"/>
                    <a:pt x="1354524" y="65953"/>
                  </a:cubicBezTo>
                  <a:lnTo>
                    <a:pt x="1354524" y="1233720"/>
                  </a:lnTo>
                  <a:cubicBezTo>
                    <a:pt x="1354524" y="1251212"/>
                    <a:pt x="1347575" y="1267987"/>
                    <a:pt x="1335206" y="1280356"/>
                  </a:cubicBezTo>
                  <a:cubicBezTo>
                    <a:pt x="1322838" y="1292724"/>
                    <a:pt x="1306062" y="1299673"/>
                    <a:pt x="1288570" y="1299673"/>
                  </a:cubicBezTo>
                  <a:lnTo>
                    <a:pt x="65953" y="1299673"/>
                  </a:lnTo>
                  <a:cubicBezTo>
                    <a:pt x="48461" y="1299673"/>
                    <a:pt x="31686" y="1292724"/>
                    <a:pt x="19317" y="1280356"/>
                  </a:cubicBezTo>
                  <a:cubicBezTo>
                    <a:pt x="6949" y="1267987"/>
                    <a:pt x="0" y="1251212"/>
                    <a:pt x="0" y="1233720"/>
                  </a:cubicBezTo>
                  <a:lnTo>
                    <a:pt x="0" y="65953"/>
                  </a:lnTo>
                  <a:cubicBezTo>
                    <a:pt x="0" y="48461"/>
                    <a:pt x="6949" y="31686"/>
                    <a:pt x="19317" y="19317"/>
                  </a:cubicBezTo>
                  <a:cubicBezTo>
                    <a:pt x="31686" y="6949"/>
                    <a:pt x="48461" y="0"/>
                    <a:pt x="65953" y="0"/>
                  </a:cubicBezTo>
                  <a:close/>
                </a:path>
              </a:pathLst>
            </a:custGeom>
            <a:solidFill>
              <a:srgbClr val="07236A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354524" cy="1318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2"/>
                </a:lnSpc>
              </a:pPr>
            </a:p>
          </p:txBody>
        </p:sp>
      </p:grpSp>
      <p:sp>
        <p:nvSpPr>
          <p:cNvPr name="AutoShape 10" id="10"/>
          <p:cNvSpPr/>
          <p:nvPr/>
        </p:nvSpPr>
        <p:spPr>
          <a:xfrm>
            <a:off x="4649789" y="6881982"/>
            <a:ext cx="3511959" cy="0"/>
          </a:xfrm>
          <a:prstGeom prst="line">
            <a:avLst/>
          </a:prstGeom>
          <a:ln cap="flat" w="19050">
            <a:solidFill>
              <a:srgbClr val="FFFFFF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>
            <a:off x="9149991" y="6872457"/>
            <a:ext cx="3310856" cy="0"/>
          </a:xfrm>
          <a:prstGeom prst="line">
            <a:avLst/>
          </a:prstGeom>
          <a:ln cap="flat" w="19050">
            <a:solidFill>
              <a:srgbClr val="FFFFFF">
                <a:alpha val="34902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2" id="12"/>
          <p:cNvSpPr txBox="true"/>
          <p:nvPr/>
        </p:nvSpPr>
        <p:spPr>
          <a:xfrm rot="0">
            <a:off x="4800808" y="2090547"/>
            <a:ext cx="9573913" cy="2845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356"/>
              </a:lnSpc>
            </a:pPr>
            <a:r>
              <a:rPr lang="en-US" sz="7431" b="true">
                <a:solidFill>
                  <a:srgbClr val="1F1F1F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SYSTEM ROLES</a:t>
            </a:r>
          </a:p>
          <a:p>
            <a:pPr algn="l">
              <a:lnSpc>
                <a:spcPts val="7356"/>
              </a:lnSpc>
            </a:pPr>
          </a:p>
          <a:p>
            <a:pPr algn="l">
              <a:lnSpc>
                <a:spcPts val="7356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4565717" y="7085501"/>
            <a:ext cx="3890196" cy="1662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6"/>
              </a:lnSpc>
            </a:pPr>
            <a:r>
              <a:rPr lang="en-US" sz="2404" spc="151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Search Room </a:t>
            </a:r>
          </a:p>
          <a:p>
            <a:pPr algn="l">
              <a:lnSpc>
                <a:spcPts val="3366"/>
              </a:lnSpc>
            </a:pPr>
            <a:r>
              <a:rPr lang="en-US" sz="2404" spc="151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Booking </a:t>
            </a:r>
          </a:p>
          <a:p>
            <a:pPr algn="l">
              <a:lnSpc>
                <a:spcPts val="3366"/>
              </a:lnSpc>
            </a:pPr>
            <a:r>
              <a:rPr lang="en-US" sz="2404" spc="151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Payment </a:t>
            </a:r>
          </a:p>
          <a:p>
            <a:pPr algn="l">
              <a:lnSpc>
                <a:spcPts val="3366"/>
              </a:lnSpc>
            </a:pPr>
            <a:r>
              <a:rPr lang="en-US" sz="2404" spc="151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Booking History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649789" y="6086338"/>
            <a:ext cx="3511959" cy="481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>
                <a:solidFill>
                  <a:srgbClr val="FFFFFF"/>
                </a:solidFill>
                <a:latin typeface="TT Ramillas"/>
                <a:ea typeface="TT Ramillas"/>
                <a:cs typeface="TT Ramillas"/>
                <a:sym typeface="TT Ramillas"/>
              </a:rPr>
              <a:t>Customer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144000" y="7075976"/>
            <a:ext cx="3310856" cy="1861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spc="132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Manage Rooms </a:t>
            </a:r>
          </a:p>
          <a:p>
            <a:pPr algn="l">
              <a:lnSpc>
                <a:spcPts val="2940"/>
              </a:lnSpc>
            </a:pPr>
            <a:r>
              <a:rPr lang="en-US" sz="2100" spc="132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Manage Users </a:t>
            </a:r>
          </a:p>
          <a:p>
            <a:pPr algn="l">
              <a:lnSpc>
                <a:spcPts val="2940"/>
              </a:lnSpc>
            </a:pPr>
            <a:r>
              <a:rPr lang="en-US" sz="2100" spc="132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Manage Services </a:t>
            </a:r>
          </a:p>
          <a:p>
            <a:pPr algn="l">
              <a:lnSpc>
                <a:spcPts val="2940"/>
              </a:lnSpc>
            </a:pPr>
            <a:r>
              <a:rPr lang="en-US" sz="2100" spc="132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Manage Promotions Reports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149991" y="6086338"/>
            <a:ext cx="3310856" cy="481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>
                <a:solidFill>
                  <a:srgbClr val="FFFFFF"/>
                </a:solidFill>
                <a:latin typeface="TT Ramillas"/>
                <a:ea typeface="TT Ramillas"/>
                <a:cs typeface="TT Ramillas"/>
                <a:sym typeface="TT Ramillas"/>
              </a:rPr>
              <a:t> Administrator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7236A">
                <a:alpha val="100000"/>
              </a:srgbClr>
            </a:gs>
            <a:gs pos="100000">
              <a:srgbClr val="4A5E93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1474723"/>
            <a:ext cx="7510158" cy="9014950"/>
          </a:xfrm>
          <a:custGeom>
            <a:avLst/>
            <a:gdLst/>
            <a:ahLst/>
            <a:cxnLst/>
            <a:rect r="r" b="b" t="t" l="l"/>
            <a:pathLst>
              <a:path h="9014950" w="7510158">
                <a:moveTo>
                  <a:pt x="0" y="0"/>
                </a:moveTo>
                <a:lnTo>
                  <a:pt x="7510158" y="0"/>
                </a:lnTo>
                <a:lnTo>
                  <a:pt x="7510158" y="9014950"/>
                </a:lnTo>
                <a:lnTo>
                  <a:pt x="0" y="90149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618569" y="765952"/>
            <a:ext cx="9690635" cy="1541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48"/>
              </a:lnSpc>
            </a:pPr>
            <a:r>
              <a:rPr lang="en-US" sz="6008" b="true">
                <a:solidFill>
                  <a:srgbClr val="FFFFFF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TEAM RESPONSIBILITIES</a:t>
            </a:r>
          </a:p>
          <a:p>
            <a:pPr algn="l">
              <a:lnSpc>
                <a:spcPts val="5948"/>
              </a:lnSpc>
            </a:pPr>
          </a:p>
        </p:txBody>
      </p:sp>
      <p:grpSp>
        <p:nvGrpSpPr>
          <p:cNvPr name="Group 4" id="4"/>
          <p:cNvGrpSpPr/>
          <p:nvPr/>
        </p:nvGrpSpPr>
        <p:grpSpPr>
          <a:xfrm rot="0">
            <a:off x="1028700" y="2254690"/>
            <a:ext cx="4108462" cy="2404431"/>
            <a:chOff x="0" y="0"/>
            <a:chExt cx="1354524" cy="79272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54524" cy="792720"/>
            </a:xfrm>
            <a:custGeom>
              <a:avLst/>
              <a:gdLst/>
              <a:ahLst/>
              <a:cxnLst/>
              <a:rect r="r" b="b" t="t" l="l"/>
              <a:pathLst>
                <a:path h="792720" w="1354524">
                  <a:moveTo>
                    <a:pt x="65953" y="0"/>
                  </a:moveTo>
                  <a:lnTo>
                    <a:pt x="1288570" y="0"/>
                  </a:lnTo>
                  <a:cubicBezTo>
                    <a:pt x="1306062" y="0"/>
                    <a:pt x="1322838" y="6949"/>
                    <a:pt x="1335206" y="19317"/>
                  </a:cubicBezTo>
                  <a:cubicBezTo>
                    <a:pt x="1347575" y="31686"/>
                    <a:pt x="1354524" y="48461"/>
                    <a:pt x="1354524" y="65953"/>
                  </a:cubicBezTo>
                  <a:lnTo>
                    <a:pt x="1354524" y="726766"/>
                  </a:lnTo>
                  <a:cubicBezTo>
                    <a:pt x="1354524" y="744258"/>
                    <a:pt x="1347575" y="761034"/>
                    <a:pt x="1335206" y="773402"/>
                  </a:cubicBezTo>
                  <a:cubicBezTo>
                    <a:pt x="1322838" y="785771"/>
                    <a:pt x="1306062" y="792720"/>
                    <a:pt x="1288570" y="792720"/>
                  </a:cubicBezTo>
                  <a:lnTo>
                    <a:pt x="65953" y="792720"/>
                  </a:lnTo>
                  <a:cubicBezTo>
                    <a:pt x="48461" y="792720"/>
                    <a:pt x="31686" y="785771"/>
                    <a:pt x="19317" y="773402"/>
                  </a:cubicBezTo>
                  <a:cubicBezTo>
                    <a:pt x="6949" y="761034"/>
                    <a:pt x="0" y="744258"/>
                    <a:pt x="0" y="726766"/>
                  </a:cubicBezTo>
                  <a:lnTo>
                    <a:pt x="0" y="65953"/>
                  </a:lnTo>
                  <a:cubicBezTo>
                    <a:pt x="0" y="48461"/>
                    <a:pt x="6949" y="31686"/>
                    <a:pt x="19317" y="19317"/>
                  </a:cubicBezTo>
                  <a:cubicBezTo>
                    <a:pt x="31686" y="6949"/>
                    <a:pt x="48461" y="0"/>
                    <a:pt x="65953" y="0"/>
                  </a:cubicBezTo>
                  <a:close/>
                </a:path>
              </a:pathLst>
            </a:custGeom>
            <a:solidFill>
              <a:srgbClr val="07236A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354524" cy="8117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2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28700" y="5741961"/>
            <a:ext cx="4108462" cy="2404431"/>
            <a:chOff x="0" y="0"/>
            <a:chExt cx="1354524" cy="7927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354524" cy="792720"/>
            </a:xfrm>
            <a:custGeom>
              <a:avLst/>
              <a:gdLst/>
              <a:ahLst/>
              <a:cxnLst/>
              <a:rect r="r" b="b" t="t" l="l"/>
              <a:pathLst>
                <a:path h="792720" w="1354524">
                  <a:moveTo>
                    <a:pt x="65953" y="0"/>
                  </a:moveTo>
                  <a:lnTo>
                    <a:pt x="1288570" y="0"/>
                  </a:lnTo>
                  <a:cubicBezTo>
                    <a:pt x="1306062" y="0"/>
                    <a:pt x="1322838" y="6949"/>
                    <a:pt x="1335206" y="19317"/>
                  </a:cubicBezTo>
                  <a:cubicBezTo>
                    <a:pt x="1347575" y="31686"/>
                    <a:pt x="1354524" y="48461"/>
                    <a:pt x="1354524" y="65953"/>
                  </a:cubicBezTo>
                  <a:lnTo>
                    <a:pt x="1354524" y="726766"/>
                  </a:lnTo>
                  <a:cubicBezTo>
                    <a:pt x="1354524" y="744258"/>
                    <a:pt x="1347575" y="761034"/>
                    <a:pt x="1335206" y="773402"/>
                  </a:cubicBezTo>
                  <a:cubicBezTo>
                    <a:pt x="1322838" y="785771"/>
                    <a:pt x="1306062" y="792720"/>
                    <a:pt x="1288570" y="792720"/>
                  </a:cubicBezTo>
                  <a:lnTo>
                    <a:pt x="65953" y="792720"/>
                  </a:lnTo>
                  <a:cubicBezTo>
                    <a:pt x="48461" y="792720"/>
                    <a:pt x="31686" y="785771"/>
                    <a:pt x="19317" y="773402"/>
                  </a:cubicBezTo>
                  <a:cubicBezTo>
                    <a:pt x="6949" y="761034"/>
                    <a:pt x="0" y="744258"/>
                    <a:pt x="0" y="726766"/>
                  </a:cubicBezTo>
                  <a:lnTo>
                    <a:pt x="0" y="65953"/>
                  </a:lnTo>
                  <a:cubicBezTo>
                    <a:pt x="0" y="48461"/>
                    <a:pt x="6949" y="31686"/>
                    <a:pt x="19317" y="19317"/>
                  </a:cubicBezTo>
                  <a:cubicBezTo>
                    <a:pt x="31686" y="6949"/>
                    <a:pt x="48461" y="0"/>
                    <a:pt x="65953" y="0"/>
                  </a:cubicBezTo>
                  <a:close/>
                </a:path>
              </a:pathLst>
            </a:custGeom>
            <a:solidFill>
              <a:srgbClr val="07236A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354524" cy="8117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2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243433" y="2807631"/>
            <a:ext cx="3562323" cy="3762138"/>
            <a:chOff x="0" y="0"/>
            <a:chExt cx="7002282" cy="739504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596595" y="625621"/>
              <a:ext cx="5795089" cy="6120142"/>
            </a:xfrm>
            <a:custGeom>
              <a:avLst/>
              <a:gdLst/>
              <a:ahLst/>
              <a:cxnLst/>
              <a:rect r="r" b="b" t="t" l="l"/>
              <a:pathLst>
                <a:path h="6120142" w="5795089">
                  <a:moveTo>
                    <a:pt x="2897544" y="0"/>
                  </a:moveTo>
                  <a:cubicBezTo>
                    <a:pt x="1297274" y="0"/>
                    <a:pt x="0" y="1370041"/>
                    <a:pt x="0" y="3060071"/>
                  </a:cubicBezTo>
                  <a:cubicBezTo>
                    <a:pt x="0" y="4750102"/>
                    <a:pt x="1297274" y="6120142"/>
                    <a:pt x="2897544" y="6120142"/>
                  </a:cubicBezTo>
                  <a:cubicBezTo>
                    <a:pt x="4497813" y="6120142"/>
                    <a:pt x="5795088" y="4750102"/>
                    <a:pt x="5795088" y="3060071"/>
                  </a:cubicBezTo>
                  <a:cubicBezTo>
                    <a:pt x="5795088" y="1370041"/>
                    <a:pt x="4497813" y="0"/>
                    <a:pt x="2897544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2092" r="0" b="-2092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3015493" y="2752048"/>
            <a:ext cx="3407464" cy="3540571"/>
            <a:chOff x="0" y="0"/>
            <a:chExt cx="6697884" cy="695952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570660" y="588776"/>
              <a:ext cx="5543169" cy="5759704"/>
            </a:xfrm>
            <a:custGeom>
              <a:avLst/>
              <a:gdLst/>
              <a:ahLst/>
              <a:cxnLst/>
              <a:rect r="r" b="b" t="t" l="l"/>
              <a:pathLst>
                <a:path h="5759704" w="5543169">
                  <a:moveTo>
                    <a:pt x="2771584" y="0"/>
                  </a:moveTo>
                  <a:cubicBezTo>
                    <a:pt x="1240880" y="0"/>
                    <a:pt x="0" y="1289354"/>
                    <a:pt x="0" y="2879852"/>
                  </a:cubicBezTo>
                  <a:cubicBezTo>
                    <a:pt x="0" y="4470350"/>
                    <a:pt x="1240880" y="5759704"/>
                    <a:pt x="2771584" y="5759704"/>
                  </a:cubicBezTo>
                  <a:cubicBezTo>
                    <a:pt x="4302288" y="5759704"/>
                    <a:pt x="5543168" y="4470350"/>
                    <a:pt x="5543168" y="2879852"/>
                  </a:cubicBezTo>
                  <a:cubicBezTo>
                    <a:pt x="5543168" y="1289354"/>
                    <a:pt x="4302288" y="0"/>
                    <a:pt x="2771584" y="0"/>
                  </a:cubicBezTo>
                  <a:close/>
                </a:path>
              </a:pathLst>
            </a:custGeom>
            <a:blipFill>
              <a:blip r:embed="rId5"/>
              <a:stretch>
                <a:fillRect l="-30019" t="-10222" r="-36321" b="-15476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7510158" y="7136757"/>
            <a:ext cx="5363782" cy="397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9"/>
              </a:lnSpc>
            </a:pPr>
            <a:r>
              <a:rPr lang="en-US" sz="3100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NGUYỄN THỊ TÀI LINH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18728" y="2620456"/>
            <a:ext cx="3528407" cy="3108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4"/>
              </a:lnSpc>
            </a:pPr>
            <a:r>
              <a:rPr lang="en-US" sz="2368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NGUYỄN THỊ TÀI LINH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18728" y="3244805"/>
            <a:ext cx="3528407" cy="11966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4"/>
              </a:lnSpc>
            </a:pPr>
            <a:r>
              <a:rPr lang="en-US" sz="2368">
                <a:solidFill>
                  <a:srgbClr val="FFFFFF"/>
                </a:solidFill>
                <a:latin typeface="Be Vietnam"/>
                <a:ea typeface="Be Vietnam"/>
                <a:cs typeface="Be Vietnam"/>
                <a:sym typeface="Be Vietnam"/>
              </a:rPr>
              <a:t>• Search Room </a:t>
            </a:r>
          </a:p>
          <a:p>
            <a:pPr algn="l">
              <a:lnSpc>
                <a:spcPts val="2344"/>
              </a:lnSpc>
            </a:pPr>
            <a:r>
              <a:rPr lang="en-US" sz="2368">
                <a:solidFill>
                  <a:srgbClr val="FFFFFF"/>
                </a:solidFill>
                <a:latin typeface="Be Vietnam"/>
                <a:ea typeface="Be Vietnam"/>
                <a:cs typeface="Be Vietnam"/>
                <a:sym typeface="Be Vietnam"/>
              </a:rPr>
              <a:t>• Search Available Room • Payment Processing</a:t>
            </a:r>
          </a:p>
          <a:p>
            <a:pPr algn="l">
              <a:lnSpc>
                <a:spcPts val="2344"/>
              </a:lnSpc>
            </a:pPr>
            <a:r>
              <a:rPr lang="en-US" sz="2368">
                <a:solidFill>
                  <a:srgbClr val="FFFFFF"/>
                </a:solidFill>
                <a:latin typeface="Be Vietnam"/>
                <a:ea typeface="Be Vietnam"/>
                <a:cs typeface="Be Vietnam"/>
                <a:sym typeface="Be Vietnam"/>
              </a:rPr>
              <a:t>• .....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015493" y="7136757"/>
            <a:ext cx="4219933" cy="397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8"/>
              </a:lnSpc>
            </a:pPr>
            <a:r>
              <a:rPr lang="en-US" sz="3099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NGUYỄN VĂN TIẾN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18728" y="6561812"/>
            <a:ext cx="3528407" cy="14919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4"/>
              </a:lnSpc>
            </a:pPr>
            <a:r>
              <a:rPr lang="en-US" sz="2368">
                <a:solidFill>
                  <a:srgbClr val="FFFFFF"/>
                </a:solidFill>
                <a:latin typeface="Be Vietnam"/>
                <a:ea typeface="Be Vietnam"/>
                <a:cs typeface="Be Vietnam"/>
                <a:sym typeface="Be Vietnam"/>
              </a:rPr>
              <a:t>• User Management</a:t>
            </a:r>
          </a:p>
          <a:p>
            <a:pPr algn="l">
              <a:lnSpc>
                <a:spcPts val="2344"/>
              </a:lnSpc>
            </a:pPr>
            <a:r>
              <a:rPr lang="en-US" sz="2368">
                <a:solidFill>
                  <a:srgbClr val="FFFFFF"/>
                </a:solidFill>
                <a:latin typeface="Be Vietnam"/>
                <a:ea typeface="Be Vietnam"/>
                <a:cs typeface="Be Vietnam"/>
                <a:sym typeface="Be Vietnam"/>
              </a:rPr>
              <a:t>• Room Type</a:t>
            </a:r>
          </a:p>
          <a:p>
            <a:pPr algn="l">
              <a:lnSpc>
                <a:spcPts val="2344"/>
              </a:lnSpc>
            </a:pPr>
            <a:r>
              <a:rPr lang="en-US" sz="2368">
                <a:solidFill>
                  <a:srgbClr val="FFFFFF"/>
                </a:solidFill>
                <a:latin typeface="Be Vietnam"/>
                <a:ea typeface="Be Vietnam"/>
                <a:cs typeface="Be Vietnam"/>
                <a:sym typeface="Be Vietnam"/>
              </a:rPr>
              <a:t>• Room Management</a:t>
            </a:r>
          </a:p>
          <a:p>
            <a:pPr algn="l">
              <a:lnSpc>
                <a:spcPts val="2344"/>
              </a:lnSpc>
            </a:pPr>
            <a:r>
              <a:rPr lang="en-US" sz="2368">
                <a:solidFill>
                  <a:srgbClr val="FFFFFF"/>
                </a:solidFill>
                <a:latin typeface="Be Vietnam"/>
                <a:ea typeface="Be Vietnam"/>
                <a:cs typeface="Be Vietnam"/>
                <a:sym typeface="Be Vietnam"/>
              </a:rPr>
              <a:t>• ....</a:t>
            </a:r>
          </a:p>
          <a:p>
            <a:pPr algn="l">
              <a:lnSpc>
                <a:spcPts val="2344"/>
              </a:lnSpc>
            </a:pPr>
          </a:p>
        </p:txBody>
      </p:sp>
      <p:sp>
        <p:nvSpPr>
          <p:cNvPr name="TextBox 19" id="19"/>
          <p:cNvSpPr txBox="true"/>
          <p:nvPr/>
        </p:nvSpPr>
        <p:spPr>
          <a:xfrm rot="0">
            <a:off x="1318728" y="6029823"/>
            <a:ext cx="3528407" cy="3108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4"/>
              </a:lnSpc>
            </a:pPr>
            <a:r>
              <a:rPr lang="en-US" sz="2368" b="true">
                <a:solidFill>
                  <a:srgbClr val="FFFFFF"/>
                </a:solidFill>
                <a:latin typeface="Be Vietnam Ultra-Bold"/>
                <a:ea typeface="Be Vietnam Ultra-Bold"/>
                <a:cs typeface="Be Vietnam Ultra-Bold"/>
                <a:sym typeface="Be Vietnam Ultra-Bold"/>
              </a:rPr>
              <a:t>NGUYỄN VĂN TIẾN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7236A">
                <a:alpha val="100000"/>
              </a:srgbClr>
            </a:gs>
            <a:gs pos="100000">
              <a:srgbClr val="4A5E93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702231" y="3991249"/>
            <a:ext cx="14166184" cy="5957592"/>
            <a:chOff x="0" y="0"/>
            <a:chExt cx="2335723" cy="98228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35723" cy="982289"/>
            </a:xfrm>
            <a:custGeom>
              <a:avLst/>
              <a:gdLst/>
              <a:ahLst/>
              <a:cxnLst/>
              <a:rect r="r" b="b" t="t" l="l"/>
              <a:pathLst>
                <a:path h="982289" w="2335723">
                  <a:moveTo>
                    <a:pt x="0" y="0"/>
                  </a:moveTo>
                  <a:lnTo>
                    <a:pt x="2335723" y="0"/>
                  </a:lnTo>
                  <a:lnTo>
                    <a:pt x="2335723" y="982289"/>
                  </a:lnTo>
                  <a:lnTo>
                    <a:pt x="0" y="982289"/>
                  </a:lnTo>
                  <a:close/>
                </a:path>
              </a:pathLst>
            </a:custGeom>
            <a:blipFill>
              <a:blip r:embed="rId2"/>
              <a:stretch>
                <a:fillRect l="0" t="-15317" r="0" b="-3574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2990425" y="393974"/>
            <a:ext cx="11786775" cy="287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199"/>
              </a:lnSpc>
            </a:pPr>
            <a:r>
              <a:rPr lang="en-US" sz="9999">
                <a:solidFill>
                  <a:srgbClr val="F0EEE9"/>
                </a:solidFill>
                <a:latin typeface="Elika Gorica"/>
                <a:ea typeface="Elika Gorica"/>
                <a:cs typeface="Elika Gorica"/>
                <a:sym typeface="Elika Gorica"/>
              </a:rPr>
              <a:t>P</a:t>
            </a:r>
            <a:r>
              <a:rPr lang="en-US" sz="9999">
                <a:solidFill>
                  <a:srgbClr val="F0EEE9"/>
                </a:solidFill>
                <a:latin typeface="Elika Gorica"/>
                <a:ea typeface="Elika Gorica"/>
                <a:cs typeface="Elika Gorica"/>
                <a:sym typeface="Elika Gorica"/>
              </a:rPr>
              <a:t>lanning and Testing Methods</a:t>
            </a:r>
          </a:p>
        </p:txBody>
      </p:sp>
      <p:sp>
        <p:nvSpPr>
          <p:cNvPr name="AutoShape 5" id="5"/>
          <p:cNvSpPr/>
          <p:nvPr/>
        </p:nvSpPr>
        <p:spPr>
          <a:xfrm>
            <a:off x="311005" y="3629299"/>
            <a:ext cx="19101506" cy="0"/>
          </a:xfrm>
          <a:prstGeom prst="line">
            <a:avLst/>
          </a:prstGeom>
          <a:ln cap="flat" w="38100">
            <a:solidFill>
              <a:srgbClr val="F0EEE9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7236A">
                <a:alpha val="100000"/>
              </a:srgbClr>
            </a:gs>
            <a:gs pos="100000">
              <a:srgbClr val="4A5E93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845133" y="3542758"/>
            <a:ext cx="13840753" cy="5503607"/>
          </a:xfrm>
          <a:custGeom>
            <a:avLst/>
            <a:gdLst/>
            <a:ahLst/>
            <a:cxnLst/>
            <a:rect r="r" b="b" t="t" l="l"/>
            <a:pathLst>
              <a:path h="5503607" w="13840753">
                <a:moveTo>
                  <a:pt x="0" y="0"/>
                </a:moveTo>
                <a:lnTo>
                  <a:pt x="13840753" y="0"/>
                </a:lnTo>
                <a:lnTo>
                  <a:pt x="13840753" y="5503606"/>
                </a:lnTo>
                <a:lnTo>
                  <a:pt x="0" y="55036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578940" y="567936"/>
            <a:ext cx="14106946" cy="2827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238"/>
              </a:lnSpc>
            </a:pPr>
            <a:r>
              <a:rPr lang="en-US" b="true" sz="8322">
                <a:solidFill>
                  <a:srgbClr val="FFFFFF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CUSTOMER SIDE/ TEST CASE REPORT</a:t>
            </a:r>
          </a:p>
          <a:p>
            <a:pPr algn="ctr">
              <a:lnSpc>
                <a:spcPts val="5816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7236A">
                <a:alpha val="100000"/>
              </a:srgbClr>
            </a:gs>
            <a:gs pos="100000">
              <a:srgbClr val="4A5E93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37858" y="3407250"/>
            <a:ext cx="13048028" cy="5851050"/>
          </a:xfrm>
          <a:custGeom>
            <a:avLst/>
            <a:gdLst/>
            <a:ahLst/>
            <a:cxnLst/>
            <a:rect r="r" b="b" t="t" l="l"/>
            <a:pathLst>
              <a:path h="5851050" w="13048028">
                <a:moveTo>
                  <a:pt x="0" y="0"/>
                </a:moveTo>
                <a:lnTo>
                  <a:pt x="13048028" y="0"/>
                </a:lnTo>
                <a:lnTo>
                  <a:pt x="13048028" y="5851050"/>
                </a:lnTo>
                <a:lnTo>
                  <a:pt x="0" y="58510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578940" y="567936"/>
            <a:ext cx="14106946" cy="2827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238"/>
              </a:lnSpc>
            </a:pPr>
            <a:r>
              <a:rPr lang="en-US" b="true" sz="8322">
                <a:solidFill>
                  <a:srgbClr val="FFFFFF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CUSTOMER SIDE/ BUGS REPORT</a:t>
            </a:r>
          </a:p>
          <a:p>
            <a:pPr algn="ctr">
              <a:lnSpc>
                <a:spcPts val="5816"/>
              </a:lnSpc>
            </a:pP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7236A">
                <a:alpha val="100000"/>
              </a:srgbClr>
            </a:gs>
            <a:gs pos="100000">
              <a:srgbClr val="4A5E93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836097" y="4573097"/>
            <a:ext cx="15130356" cy="4092879"/>
          </a:xfrm>
          <a:custGeom>
            <a:avLst/>
            <a:gdLst/>
            <a:ahLst/>
            <a:cxnLst/>
            <a:rect r="r" b="b" t="t" l="l"/>
            <a:pathLst>
              <a:path h="4092879" w="15130356">
                <a:moveTo>
                  <a:pt x="0" y="0"/>
                </a:moveTo>
                <a:lnTo>
                  <a:pt x="15130356" y="0"/>
                </a:lnTo>
                <a:lnTo>
                  <a:pt x="15130356" y="4092880"/>
                </a:lnTo>
                <a:lnTo>
                  <a:pt x="0" y="409288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578940" y="567936"/>
            <a:ext cx="14106946" cy="3865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238"/>
              </a:lnSpc>
            </a:pPr>
            <a:r>
              <a:rPr lang="en-US" b="true" sz="8322">
                <a:solidFill>
                  <a:srgbClr val="FFFFFF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ADMINISTRATION SIDE (ADMIN)/ TEST CASE REPORT</a:t>
            </a:r>
          </a:p>
          <a:p>
            <a:pPr algn="ctr">
              <a:lnSpc>
                <a:spcPts val="5816"/>
              </a:lnSpc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7236A">
                <a:alpha val="100000"/>
              </a:srgbClr>
            </a:gs>
            <a:gs pos="100000">
              <a:srgbClr val="4A5E93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00250" y="4663361"/>
            <a:ext cx="15484219" cy="3736104"/>
          </a:xfrm>
          <a:custGeom>
            <a:avLst/>
            <a:gdLst/>
            <a:ahLst/>
            <a:cxnLst/>
            <a:rect r="r" b="b" t="t" l="l"/>
            <a:pathLst>
              <a:path h="3736104" w="15484219">
                <a:moveTo>
                  <a:pt x="0" y="0"/>
                </a:moveTo>
                <a:lnTo>
                  <a:pt x="15484219" y="0"/>
                </a:lnTo>
                <a:lnTo>
                  <a:pt x="15484219" y="3736104"/>
                </a:lnTo>
                <a:lnTo>
                  <a:pt x="0" y="37361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993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700250" y="1200150"/>
            <a:ext cx="14106946" cy="2827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238"/>
              </a:lnSpc>
            </a:pPr>
            <a:r>
              <a:rPr lang="en-US" b="true" sz="8322">
                <a:solidFill>
                  <a:srgbClr val="FFFFFF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ADMINISTRATION SIDE (ADMIN)/ BUGS REPORT</a:t>
            </a:r>
          </a:p>
          <a:p>
            <a:pPr algn="ctr">
              <a:lnSpc>
                <a:spcPts val="5816"/>
              </a:lnSpc>
            </a:pP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3483945"/>
            <a:ext cx="4996177" cy="5774355"/>
            <a:chOff x="0" y="0"/>
            <a:chExt cx="1360101" cy="157194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60101" cy="1571944"/>
            </a:xfrm>
            <a:custGeom>
              <a:avLst/>
              <a:gdLst/>
              <a:ahLst/>
              <a:cxnLst/>
              <a:rect r="r" b="b" t="t" l="l"/>
              <a:pathLst>
                <a:path h="1571944" w="1360101">
                  <a:moveTo>
                    <a:pt x="46487" y="0"/>
                  </a:moveTo>
                  <a:lnTo>
                    <a:pt x="1313614" y="0"/>
                  </a:lnTo>
                  <a:cubicBezTo>
                    <a:pt x="1339288" y="0"/>
                    <a:pt x="1360101" y="20813"/>
                    <a:pt x="1360101" y="46487"/>
                  </a:cubicBezTo>
                  <a:lnTo>
                    <a:pt x="1360101" y="1525457"/>
                  </a:lnTo>
                  <a:cubicBezTo>
                    <a:pt x="1360101" y="1537786"/>
                    <a:pt x="1355204" y="1549610"/>
                    <a:pt x="1346486" y="1558328"/>
                  </a:cubicBezTo>
                  <a:cubicBezTo>
                    <a:pt x="1337768" y="1567046"/>
                    <a:pt x="1325943" y="1571944"/>
                    <a:pt x="1313614" y="1571944"/>
                  </a:cubicBezTo>
                  <a:lnTo>
                    <a:pt x="46487" y="1571944"/>
                  </a:lnTo>
                  <a:cubicBezTo>
                    <a:pt x="20813" y="1571944"/>
                    <a:pt x="0" y="1551131"/>
                    <a:pt x="0" y="1525457"/>
                  </a:cubicBezTo>
                  <a:lnTo>
                    <a:pt x="0" y="46487"/>
                  </a:lnTo>
                  <a:cubicBezTo>
                    <a:pt x="0" y="20813"/>
                    <a:pt x="20813" y="0"/>
                    <a:pt x="4648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7236A">
                    <a:alpha val="100000"/>
                  </a:srgbClr>
                </a:gs>
                <a:gs pos="100000">
                  <a:srgbClr val="4A5E93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1360101" cy="15909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2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51839" y="3888690"/>
            <a:ext cx="4349899" cy="3467412"/>
            <a:chOff x="0" y="0"/>
            <a:chExt cx="2037708" cy="162430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37708" cy="1624307"/>
            </a:xfrm>
            <a:custGeom>
              <a:avLst/>
              <a:gdLst/>
              <a:ahLst/>
              <a:cxnLst/>
              <a:rect r="r" b="b" t="t" l="l"/>
              <a:pathLst>
                <a:path h="1624307" w="2037708">
                  <a:moveTo>
                    <a:pt x="40935" y="0"/>
                  </a:moveTo>
                  <a:lnTo>
                    <a:pt x="1996772" y="0"/>
                  </a:lnTo>
                  <a:cubicBezTo>
                    <a:pt x="2019380" y="0"/>
                    <a:pt x="2037708" y="18327"/>
                    <a:pt x="2037708" y="40935"/>
                  </a:cubicBezTo>
                  <a:lnTo>
                    <a:pt x="2037708" y="1583372"/>
                  </a:lnTo>
                  <a:cubicBezTo>
                    <a:pt x="2037708" y="1594229"/>
                    <a:pt x="2033395" y="1604641"/>
                    <a:pt x="2025718" y="1612317"/>
                  </a:cubicBezTo>
                  <a:cubicBezTo>
                    <a:pt x="2018041" y="1619994"/>
                    <a:pt x="2007629" y="1624307"/>
                    <a:pt x="1996772" y="1624307"/>
                  </a:cubicBezTo>
                  <a:lnTo>
                    <a:pt x="40935" y="1624307"/>
                  </a:lnTo>
                  <a:cubicBezTo>
                    <a:pt x="18327" y="1624307"/>
                    <a:pt x="0" y="1605980"/>
                    <a:pt x="0" y="1583372"/>
                  </a:cubicBezTo>
                  <a:lnTo>
                    <a:pt x="0" y="40935"/>
                  </a:lnTo>
                  <a:cubicBezTo>
                    <a:pt x="0" y="18327"/>
                    <a:pt x="18327" y="0"/>
                    <a:pt x="40935" y="0"/>
                  </a:cubicBezTo>
                  <a:close/>
                </a:path>
              </a:pathLst>
            </a:custGeom>
            <a:blipFill>
              <a:blip r:embed="rId2"/>
              <a:stretch>
                <a:fillRect l="-40958" t="0" r="-40958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6645911" y="3483945"/>
            <a:ext cx="4996177" cy="5774355"/>
            <a:chOff x="0" y="0"/>
            <a:chExt cx="1360101" cy="157194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360101" cy="1571944"/>
            </a:xfrm>
            <a:custGeom>
              <a:avLst/>
              <a:gdLst/>
              <a:ahLst/>
              <a:cxnLst/>
              <a:rect r="r" b="b" t="t" l="l"/>
              <a:pathLst>
                <a:path h="1571944" w="1360101">
                  <a:moveTo>
                    <a:pt x="46487" y="0"/>
                  </a:moveTo>
                  <a:lnTo>
                    <a:pt x="1313614" y="0"/>
                  </a:lnTo>
                  <a:cubicBezTo>
                    <a:pt x="1339288" y="0"/>
                    <a:pt x="1360101" y="20813"/>
                    <a:pt x="1360101" y="46487"/>
                  </a:cubicBezTo>
                  <a:lnTo>
                    <a:pt x="1360101" y="1525457"/>
                  </a:lnTo>
                  <a:cubicBezTo>
                    <a:pt x="1360101" y="1537786"/>
                    <a:pt x="1355204" y="1549610"/>
                    <a:pt x="1346486" y="1558328"/>
                  </a:cubicBezTo>
                  <a:cubicBezTo>
                    <a:pt x="1337768" y="1567046"/>
                    <a:pt x="1325943" y="1571944"/>
                    <a:pt x="1313614" y="1571944"/>
                  </a:cubicBezTo>
                  <a:lnTo>
                    <a:pt x="46487" y="1571944"/>
                  </a:lnTo>
                  <a:cubicBezTo>
                    <a:pt x="20813" y="1571944"/>
                    <a:pt x="0" y="1551131"/>
                    <a:pt x="0" y="1525457"/>
                  </a:cubicBezTo>
                  <a:lnTo>
                    <a:pt x="0" y="46487"/>
                  </a:lnTo>
                  <a:cubicBezTo>
                    <a:pt x="0" y="20813"/>
                    <a:pt x="20813" y="0"/>
                    <a:pt x="46487" y="0"/>
                  </a:cubicBezTo>
                  <a:close/>
                </a:path>
              </a:pathLst>
            </a:custGeom>
            <a:solidFill>
              <a:srgbClr val="07236A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1360101" cy="15909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2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69050" y="3888690"/>
            <a:ext cx="4349899" cy="3467412"/>
            <a:chOff x="0" y="0"/>
            <a:chExt cx="2037708" cy="162430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37708" cy="1624307"/>
            </a:xfrm>
            <a:custGeom>
              <a:avLst/>
              <a:gdLst/>
              <a:ahLst/>
              <a:cxnLst/>
              <a:rect r="r" b="b" t="t" l="l"/>
              <a:pathLst>
                <a:path h="1624307" w="2037708">
                  <a:moveTo>
                    <a:pt x="40935" y="0"/>
                  </a:moveTo>
                  <a:lnTo>
                    <a:pt x="1996772" y="0"/>
                  </a:lnTo>
                  <a:cubicBezTo>
                    <a:pt x="2019380" y="0"/>
                    <a:pt x="2037708" y="18327"/>
                    <a:pt x="2037708" y="40935"/>
                  </a:cubicBezTo>
                  <a:lnTo>
                    <a:pt x="2037708" y="1583372"/>
                  </a:lnTo>
                  <a:cubicBezTo>
                    <a:pt x="2037708" y="1594229"/>
                    <a:pt x="2033395" y="1604641"/>
                    <a:pt x="2025718" y="1612317"/>
                  </a:cubicBezTo>
                  <a:cubicBezTo>
                    <a:pt x="2018041" y="1619994"/>
                    <a:pt x="2007629" y="1624307"/>
                    <a:pt x="1996772" y="1624307"/>
                  </a:cubicBezTo>
                  <a:lnTo>
                    <a:pt x="40935" y="1624307"/>
                  </a:lnTo>
                  <a:cubicBezTo>
                    <a:pt x="18327" y="1624307"/>
                    <a:pt x="0" y="1605980"/>
                    <a:pt x="0" y="1583372"/>
                  </a:cubicBezTo>
                  <a:lnTo>
                    <a:pt x="0" y="40935"/>
                  </a:lnTo>
                  <a:cubicBezTo>
                    <a:pt x="0" y="18327"/>
                    <a:pt x="18327" y="0"/>
                    <a:pt x="40935" y="0"/>
                  </a:cubicBezTo>
                  <a:close/>
                </a:path>
              </a:pathLst>
            </a:custGeom>
            <a:blipFill>
              <a:blip r:embed="rId3"/>
              <a:stretch>
                <a:fillRect l="-52087" t="0" r="-10289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263123" y="3483945"/>
            <a:ext cx="4996177" cy="5774355"/>
            <a:chOff x="0" y="0"/>
            <a:chExt cx="1360101" cy="157194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60101" cy="1571944"/>
            </a:xfrm>
            <a:custGeom>
              <a:avLst/>
              <a:gdLst/>
              <a:ahLst/>
              <a:cxnLst/>
              <a:rect r="r" b="b" t="t" l="l"/>
              <a:pathLst>
                <a:path h="1571944" w="1360101">
                  <a:moveTo>
                    <a:pt x="46487" y="0"/>
                  </a:moveTo>
                  <a:lnTo>
                    <a:pt x="1313614" y="0"/>
                  </a:lnTo>
                  <a:cubicBezTo>
                    <a:pt x="1339288" y="0"/>
                    <a:pt x="1360101" y="20813"/>
                    <a:pt x="1360101" y="46487"/>
                  </a:cubicBezTo>
                  <a:lnTo>
                    <a:pt x="1360101" y="1525457"/>
                  </a:lnTo>
                  <a:cubicBezTo>
                    <a:pt x="1360101" y="1537786"/>
                    <a:pt x="1355204" y="1549610"/>
                    <a:pt x="1346486" y="1558328"/>
                  </a:cubicBezTo>
                  <a:cubicBezTo>
                    <a:pt x="1337768" y="1567046"/>
                    <a:pt x="1325943" y="1571944"/>
                    <a:pt x="1313614" y="1571944"/>
                  </a:cubicBezTo>
                  <a:lnTo>
                    <a:pt x="46487" y="1571944"/>
                  </a:lnTo>
                  <a:cubicBezTo>
                    <a:pt x="20813" y="1571944"/>
                    <a:pt x="0" y="1551131"/>
                    <a:pt x="0" y="1525457"/>
                  </a:cubicBezTo>
                  <a:lnTo>
                    <a:pt x="0" y="46487"/>
                  </a:lnTo>
                  <a:cubicBezTo>
                    <a:pt x="0" y="20813"/>
                    <a:pt x="20813" y="0"/>
                    <a:pt x="46487" y="0"/>
                  </a:cubicBezTo>
                  <a:close/>
                </a:path>
              </a:pathLst>
            </a:custGeom>
            <a:solidFill>
              <a:srgbClr val="07236A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1360101" cy="15909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2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2586262" y="3888690"/>
            <a:ext cx="4349899" cy="3467412"/>
            <a:chOff x="0" y="0"/>
            <a:chExt cx="2037708" cy="162430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037708" cy="1624307"/>
            </a:xfrm>
            <a:custGeom>
              <a:avLst/>
              <a:gdLst/>
              <a:ahLst/>
              <a:cxnLst/>
              <a:rect r="r" b="b" t="t" l="l"/>
              <a:pathLst>
                <a:path h="1624307" w="2037708">
                  <a:moveTo>
                    <a:pt x="40935" y="0"/>
                  </a:moveTo>
                  <a:lnTo>
                    <a:pt x="1996772" y="0"/>
                  </a:lnTo>
                  <a:cubicBezTo>
                    <a:pt x="2019380" y="0"/>
                    <a:pt x="2037708" y="18327"/>
                    <a:pt x="2037708" y="40935"/>
                  </a:cubicBezTo>
                  <a:lnTo>
                    <a:pt x="2037708" y="1583372"/>
                  </a:lnTo>
                  <a:cubicBezTo>
                    <a:pt x="2037708" y="1594229"/>
                    <a:pt x="2033395" y="1604641"/>
                    <a:pt x="2025718" y="1612317"/>
                  </a:cubicBezTo>
                  <a:cubicBezTo>
                    <a:pt x="2018041" y="1619994"/>
                    <a:pt x="2007629" y="1624307"/>
                    <a:pt x="1996772" y="1624307"/>
                  </a:cubicBezTo>
                  <a:lnTo>
                    <a:pt x="40935" y="1624307"/>
                  </a:lnTo>
                  <a:cubicBezTo>
                    <a:pt x="18327" y="1624307"/>
                    <a:pt x="0" y="1605980"/>
                    <a:pt x="0" y="1583372"/>
                  </a:cubicBezTo>
                  <a:lnTo>
                    <a:pt x="0" y="40935"/>
                  </a:lnTo>
                  <a:cubicBezTo>
                    <a:pt x="0" y="18327"/>
                    <a:pt x="18327" y="0"/>
                    <a:pt x="40935" y="0"/>
                  </a:cubicBezTo>
                  <a:close/>
                </a:path>
              </a:pathLst>
            </a:custGeom>
            <a:blipFill>
              <a:blip r:embed="rId4"/>
              <a:stretch>
                <a:fillRect l="-1649" t="0" r="-75847" b="0"/>
              </a:stretch>
            </a:blipFill>
          </p:spPr>
        </p:sp>
      </p:grpSp>
      <p:sp>
        <p:nvSpPr>
          <p:cNvPr name="Freeform 17" id="17"/>
          <p:cNvSpPr/>
          <p:nvPr/>
        </p:nvSpPr>
        <p:spPr>
          <a:xfrm flipH="false" flipV="false" rot="0">
            <a:off x="2622502" y="7658791"/>
            <a:ext cx="1844374" cy="318574"/>
          </a:xfrm>
          <a:custGeom>
            <a:avLst/>
            <a:gdLst/>
            <a:ahLst/>
            <a:cxnLst/>
            <a:rect r="r" b="b" t="t" l="l"/>
            <a:pathLst>
              <a:path h="318574" w="1844374">
                <a:moveTo>
                  <a:pt x="0" y="0"/>
                </a:moveTo>
                <a:lnTo>
                  <a:pt x="1844374" y="0"/>
                </a:lnTo>
                <a:lnTo>
                  <a:pt x="1844374" y="318574"/>
                </a:lnTo>
                <a:lnTo>
                  <a:pt x="0" y="31857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266559" y="7674186"/>
            <a:ext cx="1844374" cy="318574"/>
          </a:xfrm>
          <a:custGeom>
            <a:avLst/>
            <a:gdLst/>
            <a:ahLst/>
            <a:cxnLst/>
            <a:rect r="r" b="b" t="t" l="l"/>
            <a:pathLst>
              <a:path h="318574" w="1844374">
                <a:moveTo>
                  <a:pt x="0" y="0"/>
                </a:moveTo>
                <a:lnTo>
                  <a:pt x="1844374" y="0"/>
                </a:lnTo>
                <a:lnTo>
                  <a:pt x="1844374" y="318574"/>
                </a:lnTo>
                <a:lnTo>
                  <a:pt x="0" y="31857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3910616" y="7689581"/>
            <a:ext cx="1844374" cy="318574"/>
          </a:xfrm>
          <a:custGeom>
            <a:avLst/>
            <a:gdLst/>
            <a:ahLst/>
            <a:cxnLst/>
            <a:rect r="r" b="b" t="t" l="l"/>
            <a:pathLst>
              <a:path h="318574" w="1844374">
                <a:moveTo>
                  <a:pt x="0" y="0"/>
                </a:moveTo>
                <a:lnTo>
                  <a:pt x="1844374" y="0"/>
                </a:lnTo>
                <a:lnTo>
                  <a:pt x="1844374" y="318574"/>
                </a:lnTo>
                <a:lnTo>
                  <a:pt x="0" y="31857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866438" y="1909219"/>
            <a:ext cx="16644616" cy="727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18"/>
              </a:lnSpc>
            </a:pPr>
            <a:r>
              <a:rPr lang="en-US" b="true" sz="5473">
                <a:solidFill>
                  <a:srgbClr val="1F1F1F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SYSTEM DEMO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51839" y="8274024"/>
            <a:ext cx="4349899" cy="5806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43"/>
              </a:lnSpc>
            </a:pPr>
            <a:r>
              <a:rPr lang="en-US" b="true" sz="3388">
                <a:solidFill>
                  <a:srgbClr val="FFFFFF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HOMEPAGE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969050" y="8289346"/>
            <a:ext cx="4349899" cy="5806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43"/>
              </a:lnSpc>
            </a:pPr>
            <a:r>
              <a:rPr lang="en-US" b="true" sz="3388">
                <a:solidFill>
                  <a:srgbClr val="FFFFFF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BOOKING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657854" y="8289346"/>
            <a:ext cx="4421670" cy="5806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43"/>
              </a:lnSpc>
            </a:pPr>
            <a:r>
              <a:rPr lang="en-US" b="true" sz="3388">
                <a:solidFill>
                  <a:srgbClr val="FFFFFF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ADMIN DASHBOARD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-989567" y="122634"/>
            <a:ext cx="5918002" cy="325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spc="54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COURSE ST84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4502832"/>
            <a:ext cx="8115300" cy="1330538"/>
            <a:chOff x="0" y="0"/>
            <a:chExt cx="3564291" cy="58438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564291" cy="584381"/>
            </a:xfrm>
            <a:custGeom>
              <a:avLst/>
              <a:gdLst/>
              <a:ahLst/>
              <a:cxnLst/>
              <a:rect r="r" b="b" t="t" l="l"/>
              <a:pathLst>
                <a:path h="584381" w="3564291">
                  <a:moveTo>
                    <a:pt x="27666" y="0"/>
                  </a:moveTo>
                  <a:lnTo>
                    <a:pt x="3536625" y="0"/>
                  </a:lnTo>
                  <a:cubicBezTo>
                    <a:pt x="3551904" y="0"/>
                    <a:pt x="3564291" y="12386"/>
                    <a:pt x="3564291" y="27666"/>
                  </a:cubicBezTo>
                  <a:lnTo>
                    <a:pt x="3564291" y="556715"/>
                  </a:lnTo>
                  <a:cubicBezTo>
                    <a:pt x="3564291" y="571994"/>
                    <a:pt x="3551904" y="584381"/>
                    <a:pt x="3536625" y="584381"/>
                  </a:cubicBezTo>
                  <a:lnTo>
                    <a:pt x="27666" y="584381"/>
                  </a:lnTo>
                  <a:cubicBezTo>
                    <a:pt x="12386" y="584381"/>
                    <a:pt x="0" y="571994"/>
                    <a:pt x="0" y="556715"/>
                  </a:cubicBezTo>
                  <a:lnTo>
                    <a:pt x="0" y="27666"/>
                  </a:lnTo>
                  <a:cubicBezTo>
                    <a:pt x="0" y="12386"/>
                    <a:pt x="12386" y="0"/>
                    <a:pt x="27666" y="0"/>
                  </a:cubicBezTo>
                  <a:close/>
                </a:path>
              </a:pathLst>
            </a:custGeom>
            <a:solidFill>
              <a:srgbClr val="07236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3564291" cy="6034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2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6215297"/>
            <a:ext cx="8115300" cy="1330538"/>
            <a:chOff x="0" y="0"/>
            <a:chExt cx="3564291" cy="58438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564291" cy="584381"/>
            </a:xfrm>
            <a:custGeom>
              <a:avLst/>
              <a:gdLst/>
              <a:ahLst/>
              <a:cxnLst/>
              <a:rect r="r" b="b" t="t" l="l"/>
              <a:pathLst>
                <a:path h="584381" w="3564291">
                  <a:moveTo>
                    <a:pt x="27666" y="0"/>
                  </a:moveTo>
                  <a:lnTo>
                    <a:pt x="3536625" y="0"/>
                  </a:lnTo>
                  <a:cubicBezTo>
                    <a:pt x="3551904" y="0"/>
                    <a:pt x="3564291" y="12386"/>
                    <a:pt x="3564291" y="27666"/>
                  </a:cubicBezTo>
                  <a:lnTo>
                    <a:pt x="3564291" y="556715"/>
                  </a:lnTo>
                  <a:cubicBezTo>
                    <a:pt x="3564291" y="571994"/>
                    <a:pt x="3551904" y="584381"/>
                    <a:pt x="3536625" y="584381"/>
                  </a:cubicBezTo>
                  <a:lnTo>
                    <a:pt x="27666" y="584381"/>
                  </a:lnTo>
                  <a:cubicBezTo>
                    <a:pt x="12386" y="584381"/>
                    <a:pt x="0" y="571994"/>
                    <a:pt x="0" y="556715"/>
                  </a:cubicBezTo>
                  <a:lnTo>
                    <a:pt x="0" y="27666"/>
                  </a:lnTo>
                  <a:cubicBezTo>
                    <a:pt x="0" y="12386"/>
                    <a:pt x="12386" y="0"/>
                    <a:pt x="2766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7236A">
                    <a:alpha val="100000"/>
                  </a:srgbClr>
                </a:gs>
                <a:gs pos="100000">
                  <a:srgbClr val="4A5E93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3564291" cy="6034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2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28700" y="7927762"/>
            <a:ext cx="8115300" cy="1330538"/>
            <a:chOff x="0" y="0"/>
            <a:chExt cx="3564291" cy="58438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564291" cy="584381"/>
            </a:xfrm>
            <a:custGeom>
              <a:avLst/>
              <a:gdLst/>
              <a:ahLst/>
              <a:cxnLst/>
              <a:rect r="r" b="b" t="t" l="l"/>
              <a:pathLst>
                <a:path h="584381" w="3564291">
                  <a:moveTo>
                    <a:pt x="27666" y="0"/>
                  </a:moveTo>
                  <a:lnTo>
                    <a:pt x="3536625" y="0"/>
                  </a:lnTo>
                  <a:cubicBezTo>
                    <a:pt x="3551904" y="0"/>
                    <a:pt x="3564291" y="12386"/>
                    <a:pt x="3564291" y="27666"/>
                  </a:cubicBezTo>
                  <a:lnTo>
                    <a:pt x="3564291" y="556715"/>
                  </a:lnTo>
                  <a:cubicBezTo>
                    <a:pt x="3564291" y="571994"/>
                    <a:pt x="3551904" y="584381"/>
                    <a:pt x="3536625" y="584381"/>
                  </a:cubicBezTo>
                  <a:lnTo>
                    <a:pt x="27666" y="584381"/>
                  </a:lnTo>
                  <a:cubicBezTo>
                    <a:pt x="12386" y="584381"/>
                    <a:pt x="0" y="571994"/>
                    <a:pt x="0" y="556715"/>
                  </a:cubicBezTo>
                  <a:lnTo>
                    <a:pt x="0" y="27666"/>
                  </a:lnTo>
                  <a:cubicBezTo>
                    <a:pt x="0" y="12386"/>
                    <a:pt x="12386" y="0"/>
                    <a:pt x="27666" y="0"/>
                  </a:cubicBezTo>
                  <a:close/>
                </a:path>
              </a:pathLst>
            </a:custGeom>
            <a:solidFill>
              <a:srgbClr val="07236A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3564291" cy="6034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2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977655" y="1879647"/>
            <a:ext cx="7281645" cy="7378653"/>
            <a:chOff x="0" y="0"/>
            <a:chExt cx="802114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02114" cy="812800"/>
            </a:xfrm>
            <a:custGeom>
              <a:avLst/>
              <a:gdLst/>
              <a:ahLst/>
              <a:cxnLst/>
              <a:rect r="r" b="b" t="t" l="l"/>
              <a:pathLst>
                <a:path h="812800" w="802114">
                  <a:moveTo>
                    <a:pt x="24454" y="0"/>
                  </a:moveTo>
                  <a:lnTo>
                    <a:pt x="777660" y="0"/>
                  </a:lnTo>
                  <a:cubicBezTo>
                    <a:pt x="784146" y="0"/>
                    <a:pt x="790366" y="2576"/>
                    <a:pt x="794952" y="7162"/>
                  </a:cubicBezTo>
                  <a:cubicBezTo>
                    <a:pt x="799538" y="11748"/>
                    <a:pt x="802114" y="17968"/>
                    <a:pt x="802114" y="24454"/>
                  </a:cubicBezTo>
                  <a:lnTo>
                    <a:pt x="802114" y="788346"/>
                  </a:lnTo>
                  <a:cubicBezTo>
                    <a:pt x="802114" y="794832"/>
                    <a:pt x="799538" y="801052"/>
                    <a:pt x="794952" y="805638"/>
                  </a:cubicBezTo>
                  <a:cubicBezTo>
                    <a:pt x="790366" y="810224"/>
                    <a:pt x="784146" y="812800"/>
                    <a:pt x="777660" y="812800"/>
                  </a:cubicBezTo>
                  <a:lnTo>
                    <a:pt x="24454" y="812800"/>
                  </a:lnTo>
                  <a:cubicBezTo>
                    <a:pt x="17968" y="812800"/>
                    <a:pt x="11748" y="810224"/>
                    <a:pt x="7162" y="805638"/>
                  </a:cubicBezTo>
                  <a:cubicBezTo>
                    <a:pt x="2576" y="801052"/>
                    <a:pt x="0" y="794832"/>
                    <a:pt x="0" y="788346"/>
                  </a:cubicBezTo>
                  <a:lnTo>
                    <a:pt x="0" y="24454"/>
                  </a:lnTo>
                  <a:cubicBezTo>
                    <a:pt x="0" y="17968"/>
                    <a:pt x="2576" y="11748"/>
                    <a:pt x="7162" y="7162"/>
                  </a:cubicBezTo>
                  <a:cubicBezTo>
                    <a:pt x="11748" y="2576"/>
                    <a:pt x="17968" y="0"/>
                    <a:pt x="24454" y="0"/>
                  </a:cubicBezTo>
                  <a:close/>
                </a:path>
              </a:pathLst>
            </a:custGeom>
            <a:blipFill>
              <a:blip r:embed="rId2"/>
              <a:stretch>
                <a:fillRect l="-26046" t="0" r="-26046" b="0"/>
              </a:stretch>
            </a:blipFill>
          </p:spPr>
        </p:sp>
      </p:grpSp>
      <p:sp>
        <p:nvSpPr>
          <p:cNvPr name="Freeform 13" id="13"/>
          <p:cNvSpPr/>
          <p:nvPr/>
        </p:nvSpPr>
        <p:spPr>
          <a:xfrm flipH="false" flipV="false" rot="0">
            <a:off x="1514169" y="4703142"/>
            <a:ext cx="683216" cy="931130"/>
          </a:xfrm>
          <a:custGeom>
            <a:avLst/>
            <a:gdLst/>
            <a:ahLst/>
            <a:cxnLst/>
            <a:rect r="r" b="b" t="t" l="l"/>
            <a:pathLst>
              <a:path h="931130" w="683216">
                <a:moveTo>
                  <a:pt x="0" y="0"/>
                </a:moveTo>
                <a:lnTo>
                  <a:pt x="683217" y="0"/>
                </a:lnTo>
                <a:lnTo>
                  <a:pt x="683217" y="931130"/>
                </a:lnTo>
                <a:lnTo>
                  <a:pt x="0" y="931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514169" y="6415001"/>
            <a:ext cx="683216" cy="931130"/>
          </a:xfrm>
          <a:custGeom>
            <a:avLst/>
            <a:gdLst/>
            <a:ahLst/>
            <a:cxnLst/>
            <a:rect r="r" b="b" t="t" l="l"/>
            <a:pathLst>
              <a:path h="931130" w="683216">
                <a:moveTo>
                  <a:pt x="0" y="0"/>
                </a:moveTo>
                <a:lnTo>
                  <a:pt x="683217" y="0"/>
                </a:lnTo>
                <a:lnTo>
                  <a:pt x="683217" y="931130"/>
                </a:lnTo>
                <a:lnTo>
                  <a:pt x="0" y="931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514169" y="8127466"/>
            <a:ext cx="683216" cy="931130"/>
          </a:xfrm>
          <a:custGeom>
            <a:avLst/>
            <a:gdLst/>
            <a:ahLst/>
            <a:cxnLst/>
            <a:rect r="r" b="b" t="t" l="l"/>
            <a:pathLst>
              <a:path h="931130" w="683216">
                <a:moveTo>
                  <a:pt x="0" y="0"/>
                </a:moveTo>
                <a:lnTo>
                  <a:pt x="683217" y="0"/>
                </a:lnTo>
                <a:lnTo>
                  <a:pt x="683217" y="931130"/>
                </a:lnTo>
                <a:lnTo>
                  <a:pt x="0" y="931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028700" y="1671709"/>
            <a:ext cx="8115300" cy="21262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188"/>
              </a:lnSpc>
            </a:pPr>
            <a:r>
              <a:rPr lang="en-US" sz="8270" b="true">
                <a:solidFill>
                  <a:srgbClr val="1F1F1F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PROJECT CONCLUSION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426408" y="4789383"/>
            <a:ext cx="6282841" cy="7961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1"/>
              </a:lnSpc>
            </a:pPr>
            <a:r>
              <a:rPr lang="en-US" sz="2279" spc="84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Completed manual testing for all assigned modules.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426408" y="6367376"/>
            <a:ext cx="6282841" cy="7961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1"/>
              </a:lnSpc>
            </a:pPr>
            <a:r>
              <a:rPr lang="en-US" sz="2279" spc="84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Detected and documented software defects through Bug Reports.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426408" y="8171160"/>
            <a:ext cx="6282841" cy="7961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1"/>
              </a:lnSpc>
            </a:pPr>
            <a:r>
              <a:rPr lang="en-US" sz="2279" spc="84">
                <a:solidFill>
                  <a:srgbClr val="FFFFFF"/>
                </a:solidFill>
                <a:latin typeface="The Seasons"/>
                <a:ea typeface="The Seasons"/>
                <a:cs typeface="The Seasons"/>
                <a:sym typeface="The Seasons"/>
              </a:rPr>
              <a:t>Enhance system performance, security and automation testing in future development.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5085721"/>
            <a:ext cx="7925383" cy="4172579"/>
            <a:chOff x="0" y="0"/>
            <a:chExt cx="1796768" cy="9459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96768" cy="945968"/>
            </a:xfrm>
            <a:custGeom>
              <a:avLst/>
              <a:gdLst/>
              <a:ahLst/>
              <a:cxnLst/>
              <a:rect r="r" b="b" t="t" l="l"/>
              <a:pathLst>
                <a:path h="945968" w="1796768">
                  <a:moveTo>
                    <a:pt x="34190" y="0"/>
                  </a:moveTo>
                  <a:lnTo>
                    <a:pt x="1762579" y="0"/>
                  </a:lnTo>
                  <a:cubicBezTo>
                    <a:pt x="1771646" y="0"/>
                    <a:pt x="1780343" y="3602"/>
                    <a:pt x="1786755" y="10014"/>
                  </a:cubicBezTo>
                  <a:cubicBezTo>
                    <a:pt x="1793166" y="16426"/>
                    <a:pt x="1796768" y="25122"/>
                    <a:pt x="1796768" y="34190"/>
                  </a:cubicBezTo>
                  <a:lnTo>
                    <a:pt x="1796768" y="911778"/>
                  </a:lnTo>
                  <a:cubicBezTo>
                    <a:pt x="1796768" y="920846"/>
                    <a:pt x="1793166" y="929542"/>
                    <a:pt x="1786755" y="935954"/>
                  </a:cubicBezTo>
                  <a:cubicBezTo>
                    <a:pt x="1780343" y="942366"/>
                    <a:pt x="1771646" y="945968"/>
                    <a:pt x="1762579" y="945968"/>
                  </a:cubicBezTo>
                  <a:lnTo>
                    <a:pt x="34190" y="945968"/>
                  </a:lnTo>
                  <a:cubicBezTo>
                    <a:pt x="25122" y="945968"/>
                    <a:pt x="16426" y="942366"/>
                    <a:pt x="10014" y="935954"/>
                  </a:cubicBezTo>
                  <a:cubicBezTo>
                    <a:pt x="3602" y="929542"/>
                    <a:pt x="0" y="920846"/>
                    <a:pt x="0" y="911778"/>
                  </a:cubicBezTo>
                  <a:lnTo>
                    <a:pt x="0" y="34190"/>
                  </a:lnTo>
                  <a:cubicBezTo>
                    <a:pt x="0" y="25122"/>
                    <a:pt x="3602" y="16426"/>
                    <a:pt x="10014" y="10014"/>
                  </a:cubicBezTo>
                  <a:cubicBezTo>
                    <a:pt x="16426" y="3602"/>
                    <a:pt x="25122" y="0"/>
                    <a:pt x="3419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7236A">
                    <a:alpha val="100000"/>
                  </a:srgbClr>
                </a:gs>
                <a:gs pos="100000">
                  <a:srgbClr val="4A5E93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1796768" cy="9650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2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544114" y="5085721"/>
            <a:ext cx="7925383" cy="4172579"/>
            <a:chOff x="0" y="0"/>
            <a:chExt cx="1796768" cy="94596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96768" cy="945968"/>
            </a:xfrm>
            <a:custGeom>
              <a:avLst/>
              <a:gdLst/>
              <a:ahLst/>
              <a:cxnLst/>
              <a:rect r="r" b="b" t="t" l="l"/>
              <a:pathLst>
                <a:path h="945968" w="1796768">
                  <a:moveTo>
                    <a:pt x="34190" y="0"/>
                  </a:moveTo>
                  <a:lnTo>
                    <a:pt x="1762579" y="0"/>
                  </a:lnTo>
                  <a:cubicBezTo>
                    <a:pt x="1771646" y="0"/>
                    <a:pt x="1780343" y="3602"/>
                    <a:pt x="1786755" y="10014"/>
                  </a:cubicBezTo>
                  <a:cubicBezTo>
                    <a:pt x="1793166" y="16426"/>
                    <a:pt x="1796768" y="25122"/>
                    <a:pt x="1796768" y="34190"/>
                  </a:cubicBezTo>
                  <a:lnTo>
                    <a:pt x="1796768" y="911778"/>
                  </a:lnTo>
                  <a:cubicBezTo>
                    <a:pt x="1796768" y="920846"/>
                    <a:pt x="1793166" y="929542"/>
                    <a:pt x="1786755" y="935954"/>
                  </a:cubicBezTo>
                  <a:cubicBezTo>
                    <a:pt x="1780343" y="942366"/>
                    <a:pt x="1771646" y="945968"/>
                    <a:pt x="1762579" y="945968"/>
                  </a:cubicBezTo>
                  <a:lnTo>
                    <a:pt x="34190" y="945968"/>
                  </a:lnTo>
                  <a:cubicBezTo>
                    <a:pt x="25122" y="945968"/>
                    <a:pt x="16426" y="942366"/>
                    <a:pt x="10014" y="935954"/>
                  </a:cubicBezTo>
                  <a:cubicBezTo>
                    <a:pt x="3602" y="929542"/>
                    <a:pt x="0" y="920846"/>
                    <a:pt x="0" y="911778"/>
                  </a:cubicBezTo>
                  <a:lnTo>
                    <a:pt x="0" y="34190"/>
                  </a:lnTo>
                  <a:cubicBezTo>
                    <a:pt x="0" y="25122"/>
                    <a:pt x="3602" y="16426"/>
                    <a:pt x="10014" y="10014"/>
                  </a:cubicBezTo>
                  <a:cubicBezTo>
                    <a:pt x="16426" y="3602"/>
                    <a:pt x="25122" y="0"/>
                    <a:pt x="3419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7236A">
                    <a:alpha val="100000"/>
                  </a:srgbClr>
                </a:gs>
                <a:gs pos="100000">
                  <a:srgbClr val="4A5E93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796768" cy="9650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2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8851567" y="4275694"/>
            <a:ext cx="4445042" cy="4982606"/>
          </a:xfrm>
          <a:custGeom>
            <a:avLst/>
            <a:gdLst/>
            <a:ahLst/>
            <a:cxnLst/>
            <a:rect r="r" b="b" t="t" l="l"/>
            <a:pathLst>
              <a:path h="4982606" w="4445042">
                <a:moveTo>
                  <a:pt x="0" y="0"/>
                </a:moveTo>
                <a:lnTo>
                  <a:pt x="4445042" y="0"/>
                </a:lnTo>
                <a:lnTo>
                  <a:pt x="4445042" y="4982606"/>
                </a:lnTo>
                <a:lnTo>
                  <a:pt x="0" y="49826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7413" t="0" r="-30831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4166720" y="5735487"/>
            <a:ext cx="435496" cy="413721"/>
          </a:xfrm>
          <a:custGeom>
            <a:avLst/>
            <a:gdLst/>
            <a:ahLst/>
            <a:cxnLst/>
            <a:rect r="r" b="b" t="t" l="l"/>
            <a:pathLst>
              <a:path h="413721" w="435496">
                <a:moveTo>
                  <a:pt x="0" y="0"/>
                </a:moveTo>
                <a:lnTo>
                  <a:pt x="435496" y="0"/>
                </a:lnTo>
                <a:lnTo>
                  <a:pt x="435496" y="413721"/>
                </a:lnTo>
                <a:lnTo>
                  <a:pt x="0" y="4137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2861112" y="5528626"/>
            <a:ext cx="435496" cy="413721"/>
          </a:xfrm>
          <a:custGeom>
            <a:avLst/>
            <a:gdLst/>
            <a:ahLst/>
            <a:cxnLst/>
            <a:rect r="r" b="b" t="t" l="l"/>
            <a:pathLst>
              <a:path h="413721" w="435496">
                <a:moveTo>
                  <a:pt x="0" y="0"/>
                </a:moveTo>
                <a:lnTo>
                  <a:pt x="435497" y="0"/>
                </a:lnTo>
                <a:lnTo>
                  <a:pt x="435497" y="413721"/>
                </a:lnTo>
                <a:lnTo>
                  <a:pt x="0" y="4137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028700" y="4588513"/>
            <a:ext cx="4024258" cy="4669787"/>
          </a:xfrm>
          <a:custGeom>
            <a:avLst/>
            <a:gdLst/>
            <a:ahLst/>
            <a:cxnLst/>
            <a:rect r="r" b="b" t="t" l="l"/>
            <a:pathLst>
              <a:path h="4669787" w="4024258">
                <a:moveTo>
                  <a:pt x="0" y="0"/>
                </a:moveTo>
                <a:lnTo>
                  <a:pt x="4024258" y="0"/>
                </a:lnTo>
                <a:lnTo>
                  <a:pt x="4024258" y="4669787"/>
                </a:lnTo>
                <a:lnTo>
                  <a:pt x="0" y="46697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2368414" y="1718250"/>
            <a:ext cx="14005717" cy="1713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40"/>
              </a:lnSpc>
            </a:pPr>
            <a:r>
              <a:rPr lang="en-US" sz="6202" b="true">
                <a:solidFill>
                  <a:srgbClr val="1F1F1F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LESSONS LEARNED &amp; CHALLENGES</a:t>
            </a:r>
          </a:p>
          <a:p>
            <a:pPr algn="just">
              <a:lnSpc>
                <a:spcPts val="7003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4824302" y="5408357"/>
            <a:ext cx="2744766" cy="760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57"/>
              </a:lnSpc>
            </a:pPr>
            <a:r>
              <a:rPr lang="en-US" sz="2987" b="true">
                <a:solidFill>
                  <a:srgbClr val="FFFFFF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TECHNICAL SKILLS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419837" y="5595301"/>
            <a:ext cx="2744766" cy="386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57"/>
              </a:lnSpc>
            </a:pPr>
            <a:r>
              <a:rPr lang="en-US" sz="2987" b="true">
                <a:solidFill>
                  <a:srgbClr val="FFFFFF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CHALLENGES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602216" y="6384644"/>
            <a:ext cx="3664447" cy="21457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9"/>
              </a:lnSpc>
            </a:pPr>
            <a:r>
              <a:rPr lang="en-US" sz="2100" spc="159" b="true">
                <a:solidFill>
                  <a:srgbClr val="FFFFFF"/>
                </a:solidFill>
                <a:latin typeface="The Seasons Bold"/>
                <a:ea typeface="The Seasons Bold"/>
                <a:cs typeface="The Seasons Bold"/>
                <a:sym typeface="The Seasons Bold"/>
              </a:rPr>
              <a:t> • Improve Test Case Design and Execution.</a:t>
            </a:r>
          </a:p>
          <a:p>
            <a:pPr algn="l">
              <a:lnSpc>
                <a:spcPts val="2079"/>
              </a:lnSpc>
            </a:pPr>
            <a:r>
              <a:rPr lang="en-US" sz="2100" spc="159" b="true">
                <a:solidFill>
                  <a:srgbClr val="FFFFFF"/>
                </a:solidFill>
                <a:latin typeface="The Seasons Bold"/>
                <a:ea typeface="The Seasons Bold"/>
                <a:cs typeface="The Seasons Bold"/>
                <a:sym typeface="The Seasons Bold"/>
              </a:rPr>
              <a:t> • Gain practical experience in Bug Reporting.</a:t>
            </a:r>
          </a:p>
          <a:p>
            <a:pPr algn="l">
              <a:lnSpc>
                <a:spcPts val="2079"/>
              </a:lnSpc>
            </a:pPr>
            <a:r>
              <a:rPr lang="en-US" sz="2100" spc="159" b="true">
                <a:solidFill>
                  <a:srgbClr val="FFFFFF"/>
                </a:solidFill>
                <a:latin typeface="The Seasons Bold"/>
                <a:ea typeface="The Seasons Bold"/>
                <a:cs typeface="The Seasons Bold"/>
                <a:sym typeface="The Seasons Bold"/>
              </a:rPr>
              <a:t> • Improve software quality through Manual Testing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296609" y="6187308"/>
            <a:ext cx="3962691" cy="25995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8"/>
              </a:lnSpc>
            </a:pPr>
            <a:r>
              <a:rPr lang="en-US" sz="2270" spc="172" b="true">
                <a:solidFill>
                  <a:srgbClr val="FFFFFF"/>
                </a:solidFill>
                <a:latin typeface="The Seasons Bold"/>
                <a:ea typeface="The Seasons Bold"/>
                <a:cs typeface="The Seasons Bold"/>
                <a:sym typeface="The Seasons Bold"/>
              </a:rPr>
              <a:t>• Understanding complex SRS documents.</a:t>
            </a:r>
          </a:p>
          <a:p>
            <a:pPr algn="l">
              <a:lnSpc>
                <a:spcPts val="2248"/>
              </a:lnSpc>
            </a:pPr>
            <a:r>
              <a:rPr lang="en-US" sz="2270" spc="172" b="true">
                <a:solidFill>
                  <a:srgbClr val="FFFFFF"/>
                </a:solidFill>
                <a:latin typeface="The Seasons Bold"/>
                <a:ea typeface="The Seasons Bold"/>
                <a:cs typeface="The Seasons Bold"/>
                <a:sym typeface="The Seasons Bold"/>
              </a:rPr>
              <a:t> • Designing comprehensive Test Cases.</a:t>
            </a:r>
          </a:p>
          <a:p>
            <a:pPr algn="l">
              <a:lnSpc>
                <a:spcPts val="2248"/>
              </a:lnSpc>
            </a:pPr>
            <a:r>
              <a:rPr lang="en-US" sz="2270" spc="172" b="true">
                <a:solidFill>
                  <a:srgbClr val="FFFFFF"/>
                </a:solidFill>
                <a:latin typeface="The Seasons Bold"/>
                <a:ea typeface="The Seasons Bold"/>
                <a:cs typeface="The Seasons Bold"/>
                <a:sym typeface="The Seasons Bold"/>
              </a:rPr>
              <a:t> • Limited project timeline.</a:t>
            </a:r>
          </a:p>
          <a:p>
            <a:pPr algn="l">
              <a:lnSpc>
                <a:spcPts val="2248"/>
              </a:lnSpc>
            </a:pPr>
            <a:r>
              <a:rPr lang="en-US" sz="2270" spc="172" b="true">
                <a:solidFill>
                  <a:srgbClr val="FFFFFF"/>
                </a:solidFill>
                <a:latin typeface="The Seasons Bold"/>
                <a:ea typeface="The Seasons Bold"/>
                <a:cs typeface="The Seasons Bold"/>
                <a:sym typeface="The Seasons Bold"/>
              </a:rPr>
              <a:t> • Managing defects during testing.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7236A">
                <a:alpha val="100000"/>
              </a:srgbClr>
            </a:gs>
            <a:gs pos="100000">
              <a:srgbClr val="4A5E93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6897370"/>
            <a:ext cx="11367135" cy="18660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23"/>
              </a:lnSpc>
            </a:pPr>
            <a:r>
              <a:rPr lang="en-US" sz="14164" b="true">
                <a:solidFill>
                  <a:srgbClr val="FFFFFF"/>
                </a:solidFill>
                <a:latin typeface="TT Ramillas Bold"/>
                <a:ea typeface="TT Ramillas Bold"/>
                <a:cs typeface="TT Ramillas Bold"/>
                <a:sym typeface="TT Ramillas Bold"/>
              </a:rPr>
              <a:t>THANK YOU</a:t>
            </a:r>
          </a:p>
        </p:txBody>
      </p:sp>
      <p:sp>
        <p:nvSpPr>
          <p:cNvPr name="AutoShape 3" id="3"/>
          <p:cNvSpPr/>
          <p:nvPr/>
        </p:nvSpPr>
        <p:spPr>
          <a:xfrm flipV="true">
            <a:off x="6987195" y="8947571"/>
            <a:ext cx="7203889" cy="0"/>
          </a:xfrm>
          <a:prstGeom prst="line">
            <a:avLst/>
          </a:prstGeom>
          <a:ln cap="flat" w="38100">
            <a:solidFill>
              <a:srgbClr val="FFFFFF">
                <a:alpha val="24706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" id="4"/>
          <p:cNvGrpSpPr/>
          <p:nvPr/>
        </p:nvGrpSpPr>
        <p:grpSpPr>
          <a:xfrm rot="0">
            <a:off x="854152" y="1091702"/>
            <a:ext cx="7735144" cy="5524592"/>
            <a:chOff x="0" y="0"/>
            <a:chExt cx="10313525" cy="7366123"/>
          </a:xfrm>
        </p:grpSpPr>
        <p:pic>
          <p:nvPicPr>
            <p:cNvPr name="Picture 5" id="5"/>
            <p:cNvPicPr>
              <a:picLocks noChangeAspect="true"/>
            </p:cNvPicPr>
            <p:nvPr/>
          </p:nvPicPr>
          <p:blipFill>
            <a:blip r:embed="rId2"/>
            <a:srcRect l="0" t="8084" r="0" b="8084"/>
            <a:stretch>
              <a:fillRect/>
            </a:stretch>
          </p:blipFill>
          <p:spPr>
            <a:xfrm flipH="false" flipV="false">
              <a:off x="0" y="0"/>
              <a:ext cx="10313525" cy="7366123"/>
            </a:xfrm>
            <a:prstGeom prst="rect">
              <a:avLst/>
            </a:prstGeom>
          </p:spPr>
        </p:pic>
      </p:grpSp>
      <p:grpSp>
        <p:nvGrpSpPr>
          <p:cNvPr name="Group 6" id="6"/>
          <p:cNvGrpSpPr/>
          <p:nvPr/>
        </p:nvGrpSpPr>
        <p:grpSpPr>
          <a:xfrm rot="0">
            <a:off x="9524156" y="1091702"/>
            <a:ext cx="7735144" cy="5524592"/>
            <a:chOff x="0" y="0"/>
            <a:chExt cx="10313525" cy="7366123"/>
          </a:xfrm>
        </p:grpSpPr>
        <p:pic>
          <p:nvPicPr>
            <p:cNvPr name="Picture 7" id="7"/>
            <p:cNvPicPr>
              <a:picLocks noChangeAspect="true"/>
            </p:cNvPicPr>
            <p:nvPr/>
          </p:nvPicPr>
          <p:blipFill>
            <a:blip r:embed="rId3"/>
            <a:srcRect l="3286" t="0" r="3286" b="0"/>
            <a:stretch>
              <a:fillRect/>
            </a:stretch>
          </p:blipFill>
          <p:spPr>
            <a:xfrm flipH="false" flipV="false">
              <a:off x="0" y="0"/>
              <a:ext cx="10313525" cy="7366123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DAHQkUYTbAo</dc:identifier>
  <dcterms:modified xsi:type="dcterms:W3CDTF">2011-08-01T06:04:30Z</dcterms:modified>
  <cp:revision>1</cp:revision>
  <dc:title>HOTEL MANAGEMENT ONLINE</dc:title>
</cp:coreProperties>
</file>