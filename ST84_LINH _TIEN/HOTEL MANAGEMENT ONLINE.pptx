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Be Vietnam" panose="020B0604020202020204" charset="0"/>
      <p:regular r:id="rId16"/>
    </p:embeddedFont>
    <p:embeddedFont>
      <p:font typeface="Be Vietnam Ultra-Bold" panose="020B0604020202020204" charset="0"/>
      <p:regular r:id="rId17"/>
    </p:embeddedFont>
    <p:embeddedFont>
      <p:font typeface="Elika Gorica" panose="020B0604020202020204" charset="0"/>
      <p:regular r:id="rId18"/>
    </p:embeddedFont>
    <p:embeddedFont>
      <p:font typeface="Poppins" panose="00000500000000000000" pitchFamily="2" charset="0"/>
      <p:regular r:id="rId19"/>
    </p:embeddedFont>
    <p:embeddedFont>
      <p:font typeface="The Seasons" panose="020B0604020202020204" charset="0"/>
      <p:regular r:id="rId20"/>
    </p:embeddedFont>
    <p:embeddedFont>
      <p:font typeface="The Seasons Bold" panose="020B0604020202020204" charset="0"/>
      <p:regular r:id="rId21"/>
    </p:embeddedFont>
    <p:embeddedFont>
      <p:font typeface="TT Ramillas" panose="020B0604020202020204" charset="0"/>
      <p:regular r:id="rId22"/>
    </p:embeddedFont>
    <p:embeddedFont>
      <p:font typeface="TT Ramillas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236A">
                <a:alpha val="100000"/>
              </a:srgbClr>
            </a:gs>
            <a:gs pos="100000">
              <a:srgbClr val="4A5E93">
                <a:alpha val="2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5642" y="1037115"/>
            <a:ext cx="12031063" cy="4861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38"/>
              </a:lnSpc>
            </a:pPr>
            <a:r>
              <a:rPr lang="en-US" sz="12664" b="1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HOTEL MANAGEMENT ONLINE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0" y="5850582"/>
            <a:ext cx="7085410" cy="416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1"/>
              </a:lnSpc>
            </a:pPr>
            <a:r>
              <a:rPr lang="en-US" sz="2458" b="1" spc="317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GIẢNG VIÊN: PHẠM THUẬN THÀNH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0" y="6600431"/>
            <a:ext cx="7085410" cy="127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1"/>
              </a:lnSpc>
            </a:pPr>
            <a:r>
              <a:rPr lang="en-US" sz="2458" b="1" spc="317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MEMBERS:</a:t>
            </a:r>
          </a:p>
          <a:p>
            <a:pPr algn="l">
              <a:lnSpc>
                <a:spcPts val="3441"/>
              </a:lnSpc>
            </a:pPr>
            <a:r>
              <a:rPr lang="en-US" sz="2458" b="1" spc="317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NGUYỄN THỊ TÀI LINH</a:t>
            </a:r>
          </a:p>
          <a:p>
            <a:pPr algn="l">
              <a:lnSpc>
                <a:spcPts val="3441"/>
              </a:lnSpc>
            </a:pPr>
            <a:r>
              <a:rPr lang="en-US" sz="2458" b="1" spc="317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NGUYỄN VĂN TIẾN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236A">
                <a:alpha val="100000"/>
              </a:srgbClr>
            </a:gs>
            <a:gs pos="100000">
              <a:srgbClr val="4A5E9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3537" y="667907"/>
            <a:ext cx="8115300" cy="3463716"/>
            <a:chOff x="0" y="0"/>
            <a:chExt cx="1257272" cy="5366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7272" cy="536620"/>
            </a:xfrm>
            <a:custGeom>
              <a:avLst/>
              <a:gdLst/>
              <a:ahLst/>
              <a:cxnLst/>
              <a:rect l="l" t="t" r="r" b="b"/>
              <a:pathLst>
                <a:path w="1257272" h="536620">
                  <a:moveTo>
                    <a:pt x="21942" y="0"/>
                  </a:moveTo>
                  <a:lnTo>
                    <a:pt x="1235331" y="0"/>
                  </a:lnTo>
                  <a:cubicBezTo>
                    <a:pt x="1247449" y="0"/>
                    <a:pt x="1257272" y="9824"/>
                    <a:pt x="1257272" y="21942"/>
                  </a:cubicBezTo>
                  <a:lnTo>
                    <a:pt x="1257272" y="514678"/>
                  </a:lnTo>
                  <a:cubicBezTo>
                    <a:pt x="1257272" y="520498"/>
                    <a:pt x="1254961" y="526079"/>
                    <a:pt x="1250846" y="530194"/>
                  </a:cubicBezTo>
                  <a:cubicBezTo>
                    <a:pt x="1246731" y="534308"/>
                    <a:pt x="1241150" y="536620"/>
                    <a:pt x="1235331" y="536620"/>
                  </a:cubicBezTo>
                  <a:lnTo>
                    <a:pt x="21942" y="536620"/>
                  </a:lnTo>
                  <a:cubicBezTo>
                    <a:pt x="16122" y="536620"/>
                    <a:pt x="10541" y="534308"/>
                    <a:pt x="6427" y="530194"/>
                  </a:cubicBezTo>
                  <a:cubicBezTo>
                    <a:pt x="2312" y="526079"/>
                    <a:pt x="0" y="520498"/>
                    <a:pt x="0" y="514678"/>
                  </a:cubicBezTo>
                  <a:lnTo>
                    <a:pt x="0" y="21942"/>
                  </a:lnTo>
                  <a:cubicBezTo>
                    <a:pt x="0" y="16122"/>
                    <a:pt x="2312" y="10541"/>
                    <a:pt x="6427" y="6427"/>
                  </a:cubicBezTo>
                  <a:cubicBezTo>
                    <a:pt x="10541" y="2312"/>
                    <a:pt x="16122" y="0"/>
                    <a:pt x="21942" y="0"/>
                  </a:cubicBezTo>
                  <a:close/>
                </a:path>
              </a:pathLst>
            </a:custGeom>
            <a:blipFill>
              <a:blip r:embed="rId2"/>
              <a:stretch>
                <a:fillRect t="-1331" b="-133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817474" y="572511"/>
            <a:ext cx="8115300" cy="3463716"/>
            <a:chOff x="0" y="0"/>
            <a:chExt cx="1257272" cy="5366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57272" cy="536620"/>
            </a:xfrm>
            <a:custGeom>
              <a:avLst/>
              <a:gdLst/>
              <a:ahLst/>
              <a:cxnLst/>
              <a:rect l="l" t="t" r="r" b="b"/>
              <a:pathLst>
                <a:path w="1257272" h="536620">
                  <a:moveTo>
                    <a:pt x="21942" y="0"/>
                  </a:moveTo>
                  <a:lnTo>
                    <a:pt x="1235331" y="0"/>
                  </a:lnTo>
                  <a:cubicBezTo>
                    <a:pt x="1247449" y="0"/>
                    <a:pt x="1257272" y="9824"/>
                    <a:pt x="1257272" y="21942"/>
                  </a:cubicBezTo>
                  <a:lnTo>
                    <a:pt x="1257272" y="514678"/>
                  </a:lnTo>
                  <a:cubicBezTo>
                    <a:pt x="1257272" y="520498"/>
                    <a:pt x="1254961" y="526079"/>
                    <a:pt x="1250846" y="530194"/>
                  </a:cubicBezTo>
                  <a:cubicBezTo>
                    <a:pt x="1246731" y="534308"/>
                    <a:pt x="1241150" y="536620"/>
                    <a:pt x="1235331" y="536620"/>
                  </a:cubicBezTo>
                  <a:lnTo>
                    <a:pt x="21942" y="536620"/>
                  </a:lnTo>
                  <a:cubicBezTo>
                    <a:pt x="16122" y="536620"/>
                    <a:pt x="10541" y="534308"/>
                    <a:pt x="6427" y="530194"/>
                  </a:cubicBezTo>
                  <a:cubicBezTo>
                    <a:pt x="2312" y="526079"/>
                    <a:pt x="0" y="520498"/>
                    <a:pt x="0" y="514678"/>
                  </a:cubicBezTo>
                  <a:lnTo>
                    <a:pt x="0" y="21942"/>
                  </a:lnTo>
                  <a:cubicBezTo>
                    <a:pt x="0" y="16122"/>
                    <a:pt x="2312" y="10541"/>
                    <a:pt x="6427" y="6427"/>
                  </a:cubicBezTo>
                  <a:cubicBezTo>
                    <a:pt x="10541" y="2312"/>
                    <a:pt x="16122" y="0"/>
                    <a:pt x="21942" y="0"/>
                  </a:cubicBezTo>
                  <a:close/>
                </a:path>
              </a:pathLst>
            </a:custGeom>
            <a:blipFill>
              <a:blip r:embed="rId3"/>
              <a:stretch>
                <a:fillRect t="-373" b="-373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6038324" y="4322123"/>
            <a:ext cx="6211352" cy="1158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72"/>
              </a:lnSpc>
            </a:pPr>
            <a:r>
              <a:rPr lang="en-US" sz="8860" b="1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CONTENT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73606" y="5652177"/>
            <a:ext cx="8492318" cy="456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4"/>
              </a:lnSpc>
            </a:pPr>
            <a:r>
              <a:rPr lang="en-US" sz="3529" dirty="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1. PROJECT OVERVIEW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73606" y="6667422"/>
            <a:ext cx="7455882" cy="456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4"/>
              </a:lnSpc>
            </a:pPr>
            <a:r>
              <a:rPr lang="en-US" sz="353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2. TEST PLANNING &amp; EXECUTION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29180" y="7632215"/>
            <a:ext cx="6164014" cy="456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4"/>
              </a:lnSpc>
            </a:pPr>
            <a:r>
              <a:rPr lang="en-US" sz="353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3. SYSTEM DEMONSTRATION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29180" y="8593136"/>
            <a:ext cx="6164014" cy="456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4"/>
              </a:lnSpc>
            </a:pPr>
            <a:r>
              <a:rPr lang="en-US" sz="353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4. CONCLUSION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448798" y="6619719"/>
            <a:ext cx="8115300" cy="3463716"/>
            <a:chOff x="-12501" y="0"/>
            <a:chExt cx="1257272" cy="536620"/>
          </a:xfrm>
        </p:grpSpPr>
        <p:sp>
          <p:nvSpPr>
            <p:cNvPr id="12" name="Freeform 12"/>
            <p:cNvSpPr/>
            <p:nvPr/>
          </p:nvSpPr>
          <p:spPr>
            <a:xfrm>
              <a:off x="-12501" y="0"/>
              <a:ext cx="1257272" cy="536620"/>
            </a:xfrm>
            <a:custGeom>
              <a:avLst/>
              <a:gdLst/>
              <a:ahLst/>
              <a:cxnLst/>
              <a:rect l="l" t="t" r="r" b="b"/>
              <a:pathLst>
                <a:path w="1257272" h="536620">
                  <a:moveTo>
                    <a:pt x="21942" y="0"/>
                  </a:moveTo>
                  <a:lnTo>
                    <a:pt x="1235331" y="0"/>
                  </a:lnTo>
                  <a:cubicBezTo>
                    <a:pt x="1247449" y="0"/>
                    <a:pt x="1257272" y="9824"/>
                    <a:pt x="1257272" y="21942"/>
                  </a:cubicBezTo>
                  <a:lnTo>
                    <a:pt x="1257272" y="514678"/>
                  </a:lnTo>
                  <a:cubicBezTo>
                    <a:pt x="1257272" y="520498"/>
                    <a:pt x="1254961" y="526079"/>
                    <a:pt x="1250846" y="530194"/>
                  </a:cubicBezTo>
                  <a:cubicBezTo>
                    <a:pt x="1246731" y="534308"/>
                    <a:pt x="1241150" y="536620"/>
                    <a:pt x="1235331" y="536620"/>
                  </a:cubicBezTo>
                  <a:lnTo>
                    <a:pt x="21942" y="536620"/>
                  </a:lnTo>
                  <a:cubicBezTo>
                    <a:pt x="16122" y="536620"/>
                    <a:pt x="10541" y="534308"/>
                    <a:pt x="6427" y="530194"/>
                  </a:cubicBezTo>
                  <a:cubicBezTo>
                    <a:pt x="2312" y="526079"/>
                    <a:pt x="0" y="520498"/>
                    <a:pt x="0" y="514678"/>
                  </a:cubicBezTo>
                  <a:lnTo>
                    <a:pt x="0" y="21942"/>
                  </a:lnTo>
                  <a:cubicBezTo>
                    <a:pt x="0" y="16122"/>
                    <a:pt x="2312" y="10541"/>
                    <a:pt x="6427" y="6427"/>
                  </a:cubicBezTo>
                  <a:cubicBezTo>
                    <a:pt x="10541" y="2312"/>
                    <a:pt x="16122" y="0"/>
                    <a:pt x="21942" y="0"/>
                  </a:cubicBezTo>
                  <a:close/>
                </a:path>
              </a:pathLst>
            </a:custGeom>
            <a:blipFill>
              <a:blip r:embed="rId4"/>
              <a:stretch>
                <a:fillRect t="-53" b="-53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236A">
                <a:alpha val="100000"/>
              </a:srgbClr>
            </a:gs>
            <a:gs pos="100000">
              <a:srgbClr val="4A5E9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74879" y="1226982"/>
            <a:ext cx="8713121" cy="9098118"/>
            <a:chOff x="0" y="0"/>
            <a:chExt cx="1349891" cy="1409537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349891" cy="1409537"/>
            </a:xfrm>
            <a:custGeom>
              <a:avLst/>
              <a:gdLst/>
              <a:ahLst/>
              <a:cxnLst/>
              <a:rect l="l" t="t" r="r" b="b"/>
              <a:pathLst>
                <a:path w="1349891" h="1409537">
                  <a:moveTo>
                    <a:pt x="1349891" y="0"/>
                  </a:moveTo>
                  <a:lnTo>
                    <a:pt x="0" y="0"/>
                  </a:lnTo>
                  <a:lnTo>
                    <a:pt x="0" y="1409537"/>
                  </a:lnTo>
                  <a:lnTo>
                    <a:pt x="1349891" y="1409537"/>
                  </a:lnTo>
                  <a:close/>
                </a:path>
              </a:pathLst>
            </a:custGeom>
            <a:blipFill>
              <a:blip r:embed="rId2"/>
              <a:stretch>
                <a:fillRect t="-29919" b="-1382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308299" y="4896584"/>
            <a:ext cx="4970399" cy="4360742"/>
            <a:chOff x="0" y="0"/>
            <a:chExt cx="1569917" cy="13773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69917" cy="1377355"/>
            </a:xfrm>
            <a:custGeom>
              <a:avLst/>
              <a:gdLst/>
              <a:ahLst/>
              <a:cxnLst/>
              <a:rect l="l" t="t" r="r" b="b"/>
              <a:pathLst>
                <a:path w="1569917" h="1377355">
                  <a:moveTo>
                    <a:pt x="54516" y="0"/>
                  </a:moveTo>
                  <a:lnTo>
                    <a:pt x="1515401" y="0"/>
                  </a:lnTo>
                  <a:cubicBezTo>
                    <a:pt x="1545509" y="0"/>
                    <a:pt x="1569917" y="24408"/>
                    <a:pt x="1569917" y="54516"/>
                  </a:cubicBezTo>
                  <a:lnTo>
                    <a:pt x="1569917" y="1322839"/>
                  </a:lnTo>
                  <a:cubicBezTo>
                    <a:pt x="1569917" y="1352947"/>
                    <a:pt x="1545509" y="1377355"/>
                    <a:pt x="1515401" y="1377355"/>
                  </a:cubicBezTo>
                  <a:lnTo>
                    <a:pt x="54516" y="1377355"/>
                  </a:lnTo>
                  <a:cubicBezTo>
                    <a:pt x="24408" y="1377355"/>
                    <a:pt x="0" y="1352947"/>
                    <a:pt x="0" y="1322839"/>
                  </a:cubicBezTo>
                  <a:lnTo>
                    <a:pt x="0" y="54516"/>
                  </a:lnTo>
                  <a:cubicBezTo>
                    <a:pt x="0" y="24408"/>
                    <a:pt x="24408" y="0"/>
                    <a:pt x="545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7236A">
                    <a:alpha val="100000"/>
                  </a:srgbClr>
                </a:gs>
                <a:gs pos="100000">
                  <a:srgbClr val="4A5E93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569917" cy="1396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2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792714" y="4896584"/>
            <a:ext cx="4970399" cy="4360742"/>
            <a:chOff x="0" y="0"/>
            <a:chExt cx="1569917" cy="13773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69917" cy="1377355"/>
            </a:xfrm>
            <a:custGeom>
              <a:avLst/>
              <a:gdLst/>
              <a:ahLst/>
              <a:cxnLst/>
              <a:rect l="l" t="t" r="r" b="b"/>
              <a:pathLst>
                <a:path w="1569917" h="1377355">
                  <a:moveTo>
                    <a:pt x="54516" y="0"/>
                  </a:moveTo>
                  <a:lnTo>
                    <a:pt x="1515401" y="0"/>
                  </a:lnTo>
                  <a:cubicBezTo>
                    <a:pt x="1545509" y="0"/>
                    <a:pt x="1569917" y="24408"/>
                    <a:pt x="1569917" y="54516"/>
                  </a:cubicBezTo>
                  <a:lnTo>
                    <a:pt x="1569917" y="1322839"/>
                  </a:lnTo>
                  <a:cubicBezTo>
                    <a:pt x="1569917" y="1352947"/>
                    <a:pt x="1545509" y="1377355"/>
                    <a:pt x="1515401" y="1377355"/>
                  </a:cubicBezTo>
                  <a:lnTo>
                    <a:pt x="54516" y="1377355"/>
                  </a:lnTo>
                  <a:cubicBezTo>
                    <a:pt x="24408" y="1377355"/>
                    <a:pt x="0" y="1352947"/>
                    <a:pt x="0" y="1322839"/>
                  </a:cubicBezTo>
                  <a:lnTo>
                    <a:pt x="0" y="54516"/>
                  </a:lnTo>
                  <a:cubicBezTo>
                    <a:pt x="0" y="24408"/>
                    <a:pt x="24408" y="0"/>
                    <a:pt x="545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A5E93">
                    <a:alpha val="100000"/>
                  </a:srgbClr>
                </a:gs>
                <a:gs pos="100000">
                  <a:srgbClr val="07326A">
                    <a:alpha val="73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569917" cy="1396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2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10800000">
            <a:off x="1028700" y="5481711"/>
            <a:ext cx="625933" cy="416530"/>
          </a:xfrm>
          <a:custGeom>
            <a:avLst/>
            <a:gdLst/>
            <a:ahLst/>
            <a:cxnLst/>
            <a:rect l="l" t="t" r="r" b="b"/>
            <a:pathLst>
              <a:path w="625933" h="416530">
                <a:moveTo>
                  <a:pt x="0" y="0"/>
                </a:moveTo>
                <a:lnTo>
                  <a:pt x="625933" y="0"/>
                </a:lnTo>
                <a:lnTo>
                  <a:pt x="625933" y="416530"/>
                </a:lnTo>
                <a:lnTo>
                  <a:pt x="0" y="416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54633" y="2195411"/>
            <a:ext cx="13397012" cy="140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85"/>
              </a:lnSpc>
            </a:pPr>
            <a:r>
              <a:rPr lang="en-US" sz="7864" dirty="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01. PROJECT INTRODUCTION</a:t>
            </a:r>
          </a:p>
          <a:p>
            <a:pPr algn="l">
              <a:lnSpc>
                <a:spcPts val="3354"/>
              </a:lnSpc>
            </a:pPr>
            <a:endParaRPr lang="en-US" sz="7864" dirty="0">
              <a:solidFill>
                <a:srgbClr val="FFFFFF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702816" y="5444144"/>
            <a:ext cx="991399" cy="842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0"/>
              </a:lnSpc>
            </a:pPr>
            <a:r>
              <a:rPr lang="en-US" sz="5832" dirty="0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65297" y="5680451"/>
            <a:ext cx="3510235" cy="39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525" b="1" dirty="0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PROJECT OBJECTIVES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05557" y="6277106"/>
            <a:ext cx="4575882" cy="2498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988" b="1" spc="125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• Verify all core hotel booking functions.</a:t>
            </a:r>
          </a:p>
          <a:p>
            <a:pPr algn="l">
              <a:lnSpc>
                <a:spcPts val="2485"/>
              </a:lnSpc>
            </a:pPr>
            <a:r>
              <a:rPr lang="en-US" sz="1988" b="1" spc="125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• Ensure system quality and reliability.</a:t>
            </a:r>
          </a:p>
          <a:p>
            <a:pPr algn="l">
              <a:lnSpc>
                <a:spcPts val="2485"/>
              </a:lnSpc>
            </a:pPr>
            <a:r>
              <a:rPr lang="en-US" sz="1988" b="1" spc="125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• Detect and report software defects.</a:t>
            </a:r>
          </a:p>
          <a:p>
            <a:pPr algn="l">
              <a:lnSpc>
                <a:spcPts val="2485"/>
              </a:lnSpc>
            </a:pPr>
            <a:r>
              <a:rPr lang="en-US" sz="1988" b="1" spc="125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• Validate requirements through manual testing.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9668" y="5444144"/>
            <a:ext cx="991399" cy="842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0"/>
              </a:lnSpc>
            </a:pPr>
            <a:r>
              <a:rPr lang="en-US" sz="5832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86195" y="5687722"/>
            <a:ext cx="3189965" cy="41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8"/>
              </a:lnSpc>
            </a:pPr>
            <a:r>
              <a:rPr lang="en-US" sz="2694" b="1" dirty="0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PROJECT SCOPE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65598" y="6277106"/>
            <a:ext cx="4944978" cy="175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2224" b="1" spc="140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• Customer Module</a:t>
            </a:r>
          </a:p>
          <a:p>
            <a:pPr algn="l">
              <a:lnSpc>
                <a:spcPts val="2780"/>
              </a:lnSpc>
            </a:pPr>
            <a:r>
              <a:rPr lang="en-US" sz="2224" b="1" spc="140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• Seller Module</a:t>
            </a:r>
          </a:p>
          <a:p>
            <a:pPr algn="l">
              <a:lnSpc>
                <a:spcPts val="2780"/>
              </a:lnSpc>
            </a:pPr>
            <a:r>
              <a:rPr lang="en-US" sz="2224" b="1" spc="140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• Administrator Module</a:t>
            </a:r>
          </a:p>
          <a:p>
            <a:pPr algn="l">
              <a:lnSpc>
                <a:spcPts val="2780"/>
              </a:lnSpc>
            </a:pPr>
            <a:r>
              <a:rPr lang="en-US" sz="2224" b="1" spc="140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• Functional Testing</a:t>
            </a:r>
          </a:p>
          <a:p>
            <a:pPr algn="l">
              <a:lnSpc>
                <a:spcPts val="2780"/>
              </a:lnSpc>
            </a:pPr>
            <a:r>
              <a:rPr lang="en-US" sz="2224" b="1" spc="140" dirty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• Basic Non-functional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28700"/>
            <a:ext cx="10189376" cy="9258300"/>
            <a:chOff x="0" y="0"/>
            <a:chExt cx="1578601" cy="1434353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578601" cy="1434353"/>
            </a:xfrm>
            <a:custGeom>
              <a:avLst/>
              <a:gdLst/>
              <a:ahLst/>
              <a:cxnLst/>
              <a:rect l="l" t="t" r="r" b="b"/>
              <a:pathLst>
                <a:path w="1578601" h="1434353">
                  <a:moveTo>
                    <a:pt x="1578601" y="0"/>
                  </a:moveTo>
                  <a:lnTo>
                    <a:pt x="0" y="0"/>
                  </a:lnTo>
                  <a:lnTo>
                    <a:pt x="0" y="1434353"/>
                  </a:lnTo>
                  <a:lnTo>
                    <a:pt x="1578601" y="1434353"/>
                  </a:lnTo>
                  <a:close/>
                </a:path>
              </a:pathLst>
            </a:custGeom>
            <a:blipFill>
              <a:blip r:embed="rId2"/>
              <a:stretch>
                <a:fillRect l="-37035" t="-9179" r="-14912" b="-240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652879" y="5456363"/>
            <a:ext cx="4539255" cy="4428161"/>
            <a:chOff x="0" y="0"/>
            <a:chExt cx="1354524" cy="129967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54524" cy="1299673"/>
            </a:xfrm>
            <a:custGeom>
              <a:avLst/>
              <a:gdLst/>
              <a:ahLst/>
              <a:cxnLst/>
              <a:rect l="l" t="t" r="r" b="b"/>
              <a:pathLst>
                <a:path w="1354524" h="1299673">
                  <a:moveTo>
                    <a:pt x="65953" y="0"/>
                  </a:moveTo>
                  <a:lnTo>
                    <a:pt x="1288570" y="0"/>
                  </a:lnTo>
                  <a:cubicBezTo>
                    <a:pt x="1306062" y="0"/>
                    <a:pt x="1322838" y="6949"/>
                    <a:pt x="1335206" y="19317"/>
                  </a:cubicBezTo>
                  <a:cubicBezTo>
                    <a:pt x="1347575" y="31686"/>
                    <a:pt x="1354524" y="48461"/>
                    <a:pt x="1354524" y="65953"/>
                  </a:cubicBezTo>
                  <a:lnTo>
                    <a:pt x="1354524" y="1233720"/>
                  </a:lnTo>
                  <a:cubicBezTo>
                    <a:pt x="1354524" y="1251212"/>
                    <a:pt x="1347575" y="1267987"/>
                    <a:pt x="1335206" y="1280356"/>
                  </a:cubicBezTo>
                  <a:cubicBezTo>
                    <a:pt x="1322838" y="1292724"/>
                    <a:pt x="1306062" y="1299673"/>
                    <a:pt x="1288570" y="1299673"/>
                  </a:cubicBezTo>
                  <a:lnTo>
                    <a:pt x="65953" y="1299673"/>
                  </a:lnTo>
                  <a:cubicBezTo>
                    <a:pt x="48461" y="1299673"/>
                    <a:pt x="31686" y="1292724"/>
                    <a:pt x="19317" y="1280356"/>
                  </a:cubicBezTo>
                  <a:cubicBezTo>
                    <a:pt x="6949" y="1267987"/>
                    <a:pt x="0" y="1251212"/>
                    <a:pt x="0" y="1233720"/>
                  </a:cubicBezTo>
                  <a:lnTo>
                    <a:pt x="0" y="65953"/>
                  </a:lnTo>
                  <a:cubicBezTo>
                    <a:pt x="0" y="48461"/>
                    <a:pt x="6949" y="31686"/>
                    <a:pt x="19317" y="19317"/>
                  </a:cubicBezTo>
                  <a:cubicBezTo>
                    <a:pt x="31686" y="6949"/>
                    <a:pt x="48461" y="0"/>
                    <a:pt x="65953" y="0"/>
                  </a:cubicBezTo>
                  <a:close/>
                </a:path>
              </a:pathLst>
            </a:custGeom>
            <a:solidFill>
              <a:srgbClr val="07236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354524" cy="1318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2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916658" y="5366721"/>
            <a:ext cx="4539255" cy="4517803"/>
            <a:chOff x="0" y="0"/>
            <a:chExt cx="1354524" cy="12996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54524" cy="1299673"/>
            </a:xfrm>
            <a:custGeom>
              <a:avLst/>
              <a:gdLst/>
              <a:ahLst/>
              <a:cxnLst/>
              <a:rect l="l" t="t" r="r" b="b"/>
              <a:pathLst>
                <a:path w="1354524" h="1299673">
                  <a:moveTo>
                    <a:pt x="65953" y="0"/>
                  </a:moveTo>
                  <a:lnTo>
                    <a:pt x="1288570" y="0"/>
                  </a:lnTo>
                  <a:cubicBezTo>
                    <a:pt x="1306062" y="0"/>
                    <a:pt x="1322838" y="6949"/>
                    <a:pt x="1335206" y="19317"/>
                  </a:cubicBezTo>
                  <a:cubicBezTo>
                    <a:pt x="1347575" y="31686"/>
                    <a:pt x="1354524" y="48461"/>
                    <a:pt x="1354524" y="65953"/>
                  </a:cubicBezTo>
                  <a:lnTo>
                    <a:pt x="1354524" y="1233720"/>
                  </a:lnTo>
                  <a:cubicBezTo>
                    <a:pt x="1354524" y="1251212"/>
                    <a:pt x="1347575" y="1267987"/>
                    <a:pt x="1335206" y="1280356"/>
                  </a:cubicBezTo>
                  <a:cubicBezTo>
                    <a:pt x="1322838" y="1292724"/>
                    <a:pt x="1306062" y="1299673"/>
                    <a:pt x="1288570" y="1299673"/>
                  </a:cubicBezTo>
                  <a:lnTo>
                    <a:pt x="65953" y="1299673"/>
                  </a:lnTo>
                  <a:cubicBezTo>
                    <a:pt x="48461" y="1299673"/>
                    <a:pt x="31686" y="1292724"/>
                    <a:pt x="19317" y="1280356"/>
                  </a:cubicBezTo>
                  <a:cubicBezTo>
                    <a:pt x="6949" y="1267987"/>
                    <a:pt x="0" y="1251212"/>
                    <a:pt x="0" y="1233720"/>
                  </a:cubicBezTo>
                  <a:lnTo>
                    <a:pt x="0" y="65953"/>
                  </a:lnTo>
                  <a:cubicBezTo>
                    <a:pt x="0" y="48461"/>
                    <a:pt x="6949" y="31686"/>
                    <a:pt x="19317" y="19317"/>
                  </a:cubicBezTo>
                  <a:cubicBezTo>
                    <a:pt x="31686" y="6949"/>
                    <a:pt x="48461" y="0"/>
                    <a:pt x="65953" y="0"/>
                  </a:cubicBezTo>
                  <a:close/>
                </a:path>
              </a:pathLst>
            </a:custGeom>
            <a:solidFill>
              <a:srgbClr val="07236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354524" cy="1318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2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4649789" y="6881982"/>
            <a:ext cx="3511959" cy="0"/>
          </a:xfrm>
          <a:prstGeom prst="line">
            <a:avLst/>
          </a:prstGeom>
          <a:ln w="19050" cap="flat">
            <a:solidFill>
              <a:srgbClr val="FFFFFF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9149991" y="6872457"/>
            <a:ext cx="3310856" cy="0"/>
          </a:xfrm>
          <a:prstGeom prst="line">
            <a:avLst/>
          </a:prstGeom>
          <a:ln w="19050" cap="flat">
            <a:solidFill>
              <a:srgbClr val="FFFFFF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4800808" y="2090547"/>
            <a:ext cx="9573913" cy="2845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56"/>
              </a:lnSpc>
            </a:pPr>
            <a:r>
              <a:rPr lang="en-US" sz="7431" b="1" dirty="0">
                <a:solidFill>
                  <a:srgbClr val="1F1F1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SYSTEM ROLES</a:t>
            </a:r>
          </a:p>
          <a:p>
            <a:pPr algn="l">
              <a:lnSpc>
                <a:spcPts val="7356"/>
              </a:lnSpc>
            </a:pPr>
            <a:endParaRPr lang="en-US" sz="7431" b="1" dirty="0">
              <a:solidFill>
                <a:srgbClr val="1F1F1F"/>
              </a:solidFill>
              <a:latin typeface="TT Ramillas Bold"/>
              <a:ea typeface="TT Ramillas Bold"/>
              <a:cs typeface="TT Ramillas Bold"/>
              <a:sym typeface="TT Ramillas Bold"/>
            </a:endParaRPr>
          </a:p>
          <a:p>
            <a:pPr algn="l">
              <a:lnSpc>
                <a:spcPts val="7356"/>
              </a:lnSpc>
            </a:pPr>
            <a:endParaRPr lang="en-US" sz="7431" b="1" dirty="0">
              <a:solidFill>
                <a:srgbClr val="1F1F1F"/>
              </a:solidFill>
              <a:latin typeface="TT Ramillas Bold"/>
              <a:ea typeface="TT Ramillas Bold"/>
              <a:cs typeface="TT Ramillas Bold"/>
              <a:sym typeface="TT Ramilla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65717" y="7085501"/>
            <a:ext cx="3890196" cy="2583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sz="2404" spc="151" dirty="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Search Room </a:t>
            </a:r>
            <a:br>
              <a:rPr lang="en-US" sz="2404" spc="151" dirty="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</a:br>
            <a:r>
              <a:rPr lang="en-US" sz="2404" spc="151" dirty="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Available room</a:t>
            </a:r>
            <a:br>
              <a:rPr lang="en-US" sz="2404" spc="151" dirty="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</a:br>
            <a:r>
              <a:rPr lang="en-US" sz="2404" spc="151" dirty="0" err="1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room</a:t>
            </a:r>
            <a:r>
              <a:rPr lang="en-US" sz="2404" spc="151" dirty="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 detail</a:t>
            </a:r>
          </a:p>
          <a:p>
            <a:pPr algn="l">
              <a:lnSpc>
                <a:spcPts val="3366"/>
              </a:lnSpc>
            </a:pPr>
            <a:r>
              <a:rPr lang="en-US" sz="2404" spc="151" dirty="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Booking </a:t>
            </a:r>
          </a:p>
          <a:p>
            <a:pPr algn="l">
              <a:lnSpc>
                <a:spcPts val="3366"/>
              </a:lnSpc>
            </a:pPr>
            <a:r>
              <a:rPr lang="en-US" sz="2404" spc="151" dirty="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Payment </a:t>
            </a:r>
          </a:p>
          <a:p>
            <a:pPr algn="l">
              <a:lnSpc>
                <a:spcPts val="3366"/>
              </a:lnSpc>
            </a:pPr>
            <a:r>
              <a:rPr lang="en-US" sz="2404" spc="151" dirty="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Cancel Booking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49789" y="6086338"/>
            <a:ext cx="3511959" cy="481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dirty="0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Customer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0" y="7075976"/>
            <a:ext cx="3310856" cy="1861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spc="132" dirty="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Manage Rooms </a:t>
            </a:r>
          </a:p>
          <a:p>
            <a:pPr algn="l">
              <a:lnSpc>
                <a:spcPts val="2940"/>
              </a:lnSpc>
            </a:pPr>
            <a:r>
              <a:rPr lang="en-US" sz="2400" spc="132" dirty="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Manage Users </a:t>
            </a:r>
          </a:p>
          <a:p>
            <a:pPr algn="l">
              <a:lnSpc>
                <a:spcPts val="2940"/>
              </a:lnSpc>
            </a:pPr>
            <a:r>
              <a:rPr lang="en-US" sz="2400" spc="132" dirty="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Manage Services </a:t>
            </a:r>
          </a:p>
          <a:p>
            <a:pPr algn="l">
              <a:lnSpc>
                <a:spcPts val="2940"/>
              </a:lnSpc>
            </a:pPr>
            <a:r>
              <a:rPr lang="en-US" sz="2400" spc="132" dirty="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Manage Promotions Reports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9991" y="6086338"/>
            <a:ext cx="3310856" cy="481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 Administrator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236A">
                <a:alpha val="100000"/>
              </a:srgbClr>
            </a:gs>
            <a:gs pos="100000">
              <a:srgbClr val="4A5E9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474723"/>
            <a:ext cx="7510158" cy="9014950"/>
          </a:xfrm>
          <a:custGeom>
            <a:avLst/>
            <a:gdLst/>
            <a:ahLst/>
            <a:cxnLst/>
            <a:rect l="l" t="t" r="r" b="b"/>
            <a:pathLst>
              <a:path w="7510158" h="9014950">
                <a:moveTo>
                  <a:pt x="0" y="0"/>
                </a:moveTo>
                <a:lnTo>
                  <a:pt x="7510158" y="0"/>
                </a:lnTo>
                <a:lnTo>
                  <a:pt x="7510158" y="9014950"/>
                </a:lnTo>
                <a:lnTo>
                  <a:pt x="0" y="90149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8569" y="765952"/>
            <a:ext cx="9690635" cy="1541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8"/>
              </a:lnSpc>
            </a:pPr>
            <a:r>
              <a:rPr lang="en-US" sz="6008" b="1" dirty="0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TEAM RESPONSIBILITIES</a:t>
            </a:r>
          </a:p>
          <a:p>
            <a:pPr algn="l">
              <a:lnSpc>
                <a:spcPts val="5948"/>
              </a:lnSpc>
            </a:pPr>
            <a:endParaRPr lang="en-US" sz="6008" b="1" dirty="0">
              <a:solidFill>
                <a:srgbClr val="FFFFFF"/>
              </a:solidFill>
              <a:latin typeface="TT Ramillas Bold"/>
              <a:ea typeface="TT Ramillas Bold"/>
              <a:cs typeface="TT Ramillas Bold"/>
              <a:sym typeface="TT Ramillas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28700" y="2254690"/>
            <a:ext cx="4108462" cy="2404431"/>
            <a:chOff x="0" y="0"/>
            <a:chExt cx="1354524" cy="7927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54524" cy="792720"/>
            </a:xfrm>
            <a:custGeom>
              <a:avLst/>
              <a:gdLst/>
              <a:ahLst/>
              <a:cxnLst/>
              <a:rect l="l" t="t" r="r" b="b"/>
              <a:pathLst>
                <a:path w="1354524" h="792720">
                  <a:moveTo>
                    <a:pt x="65953" y="0"/>
                  </a:moveTo>
                  <a:lnTo>
                    <a:pt x="1288570" y="0"/>
                  </a:lnTo>
                  <a:cubicBezTo>
                    <a:pt x="1306062" y="0"/>
                    <a:pt x="1322838" y="6949"/>
                    <a:pt x="1335206" y="19317"/>
                  </a:cubicBezTo>
                  <a:cubicBezTo>
                    <a:pt x="1347575" y="31686"/>
                    <a:pt x="1354524" y="48461"/>
                    <a:pt x="1354524" y="65953"/>
                  </a:cubicBezTo>
                  <a:lnTo>
                    <a:pt x="1354524" y="726766"/>
                  </a:lnTo>
                  <a:cubicBezTo>
                    <a:pt x="1354524" y="744258"/>
                    <a:pt x="1347575" y="761034"/>
                    <a:pt x="1335206" y="773402"/>
                  </a:cubicBezTo>
                  <a:cubicBezTo>
                    <a:pt x="1322838" y="785771"/>
                    <a:pt x="1306062" y="792720"/>
                    <a:pt x="1288570" y="792720"/>
                  </a:cubicBezTo>
                  <a:lnTo>
                    <a:pt x="65953" y="792720"/>
                  </a:lnTo>
                  <a:cubicBezTo>
                    <a:pt x="48461" y="792720"/>
                    <a:pt x="31686" y="785771"/>
                    <a:pt x="19317" y="773402"/>
                  </a:cubicBezTo>
                  <a:cubicBezTo>
                    <a:pt x="6949" y="761034"/>
                    <a:pt x="0" y="744258"/>
                    <a:pt x="0" y="726766"/>
                  </a:cubicBezTo>
                  <a:lnTo>
                    <a:pt x="0" y="65953"/>
                  </a:lnTo>
                  <a:cubicBezTo>
                    <a:pt x="0" y="48461"/>
                    <a:pt x="6949" y="31686"/>
                    <a:pt x="19317" y="19317"/>
                  </a:cubicBezTo>
                  <a:cubicBezTo>
                    <a:pt x="31686" y="6949"/>
                    <a:pt x="48461" y="0"/>
                    <a:pt x="65953" y="0"/>
                  </a:cubicBezTo>
                  <a:close/>
                </a:path>
              </a:pathLst>
            </a:custGeom>
            <a:solidFill>
              <a:srgbClr val="07236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354524" cy="811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2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5741961"/>
            <a:ext cx="4108462" cy="2404431"/>
            <a:chOff x="0" y="0"/>
            <a:chExt cx="1354524" cy="7927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54524" cy="792720"/>
            </a:xfrm>
            <a:custGeom>
              <a:avLst/>
              <a:gdLst/>
              <a:ahLst/>
              <a:cxnLst/>
              <a:rect l="l" t="t" r="r" b="b"/>
              <a:pathLst>
                <a:path w="1354524" h="792720">
                  <a:moveTo>
                    <a:pt x="65953" y="0"/>
                  </a:moveTo>
                  <a:lnTo>
                    <a:pt x="1288570" y="0"/>
                  </a:lnTo>
                  <a:cubicBezTo>
                    <a:pt x="1306062" y="0"/>
                    <a:pt x="1322838" y="6949"/>
                    <a:pt x="1335206" y="19317"/>
                  </a:cubicBezTo>
                  <a:cubicBezTo>
                    <a:pt x="1347575" y="31686"/>
                    <a:pt x="1354524" y="48461"/>
                    <a:pt x="1354524" y="65953"/>
                  </a:cubicBezTo>
                  <a:lnTo>
                    <a:pt x="1354524" y="726766"/>
                  </a:lnTo>
                  <a:cubicBezTo>
                    <a:pt x="1354524" y="744258"/>
                    <a:pt x="1347575" y="761034"/>
                    <a:pt x="1335206" y="773402"/>
                  </a:cubicBezTo>
                  <a:cubicBezTo>
                    <a:pt x="1322838" y="785771"/>
                    <a:pt x="1306062" y="792720"/>
                    <a:pt x="1288570" y="792720"/>
                  </a:cubicBezTo>
                  <a:lnTo>
                    <a:pt x="65953" y="792720"/>
                  </a:lnTo>
                  <a:cubicBezTo>
                    <a:pt x="48461" y="792720"/>
                    <a:pt x="31686" y="785771"/>
                    <a:pt x="19317" y="773402"/>
                  </a:cubicBezTo>
                  <a:cubicBezTo>
                    <a:pt x="6949" y="761034"/>
                    <a:pt x="0" y="744258"/>
                    <a:pt x="0" y="726766"/>
                  </a:cubicBezTo>
                  <a:lnTo>
                    <a:pt x="0" y="65953"/>
                  </a:lnTo>
                  <a:cubicBezTo>
                    <a:pt x="0" y="48461"/>
                    <a:pt x="6949" y="31686"/>
                    <a:pt x="19317" y="19317"/>
                  </a:cubicBezTo>
                  <a:cubicBezTo>
                    <a:pt x="31686" y="6949"/>
                    <a:pt x="48461" y="0"/>
                    <a:pt x="65953" y="0"/>
                  </a:cubicBezTo>
                  <a:close/>
                </a:path>
              </a:pathLst>
            </a:custGeom>
            <a:solidFill>
              <a:srgbClr val="07236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354524" cy="811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2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43433" y="2807631"/>
            <a:ext cx="3562323" cy="3762138"/>
            <a:chOff x="0" y="0"/>
            <a:chExt cx="7002282" cy="7395049"/>
          </a:xfrm>
        </p:grpSpPr>
        <p:sp>
          <p:nvSpPr>
            <p:cNvPr id="11" name="Freeform 11"/>
            <p:cNvSpPr/>
            <p:nvPr/>
          </p:nvSpPr>
          <p:spPr>
            <a:xfrm>
              <a:off x="596595" y="625621"/>
              <a:ext cx="5795089" cy="6120142"/>
            </a:xfrm>
            <a:custGeom>
              <a:avLst/>
              <a:gdLst/>
              <a:ahLst/>
              <a:cxnLst/>
              <a:rect l="l" t="t" r="r" b="b"/>
              <a:pathLst>
                <a:path w="5795089" h="6120142">
                  <a:moveTo>
                    <a:pt x="2897544" y="0"/>
                  </a:moveTo>
                  <a:cubicBezTo>
                    <a:pt x="1297274" y="0"/>
                    <a:pt x="0" y="1370041"/>
                    <a:pt x="0" y="3060071"/>
                  </a:cubicBezTo>
                  <a:cubicBezTo>
                    <a:pt x="0" y="4750102"/>
                    <a:pt x="1297274" y="6120142"/>
                    <a:pt x="2897544" y="6120142"/>
                  </a:cubicBezTo>
                  <a:cubicBezTo>
                    <a:pt x="4497813" y="6120142"/>
                    <a:pt x="5795088" y="4750102"/>
                    <a:pt x="5795088" y="3060071"/>
                  </a:cubicBezTo>
                  <a:cubicBezTo>
                    <a:pt x="5795088" y="1370041"/>
                    <a:pt x="4497813" y="0"/>
                    <a:pt x="2897544" y="0"/>
                  </a:cubicBezTo>
                  <a:close/>
                </a:path>
              </a:pathLst>
            </a:custGeom>
            <a:blipFill>
              <a:blip r:embed="rId4"/>
              <a:stretch>
                <a:fillRect t="-2092" b="-209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3015493" y="2752048"/>
            <a:ext cx="3407464" cy="3540571"/>
            <a:chOff x="0" y="0"/>
            <a:chExt cx="6697884" cy="6959526"/>
          </a:xfrm>
        </p:grpSpPr>
        <p:sp>
          <p:nvSpPr>
            <p:cNvPr id="13" name="Freeform 13"/>
            <p:cNvSpPr/>
            <p:nvPr/>
          </p:nvSpPr>
          <p:spPr>
            <a:xfrm>
              <a:off x="570660" y="588776"/>
              <a:ext cx="5543169" cy="5759704"/>
            </a:xfrm>
            <a:custGeom>
              <a:avLst/>
              <a:gdLst/>
              <a:ahLst/>
              <a:cxnLst/>
              <a:rect l="l" t="t" r="r" b="b"/>
              <a:pathLst>
                <a:path w="5543169" h="5759704">
                  <a:moveTo>
                    <a:pt x="2771584" y="0"/>
                  </a:moveTo>
                  <a:cubicBezTo>
                    <a:pt x="1240880" y="0"/>
                    <a:pt x="0" y="1289354"/>
                    <a:pt x="0" y="2879852"/>
                  </a:cubicBezTo>
                  <a:cubicBezTo>
                    <a:pt x="0" y="4470350"/>
                    <a:pt x="1240880" y="5759704"/>
                    <a:pt x="2771584" y="5759704"/>
                  </a:cubicBezTo>
                  <a:cubicBezTo>
                    <a:pt x="4302288" y="5759704"/>
                    <a:pt x="5543168" y="4470350"/>
                    <a:pt x="5543168" y="2879852"/>
                  </a:cubicBezTo>
                  <a:cubicBezTo>
                    <a:pt x="5543168" y="1289354"/>
                    <a:pt x="4302288" y="0"/>
                    <a:pt x="2771584" y="0"/>
                  </a:cubicBezTo>
                  <a:close/>
                </a:path>
              </a:pathLst>
            </a:custGeom>
            <a:blipFill>
              <a:blip r:embed="rId5"/>
              <a:stretch>
                <a:fillRect l="-30019" t="-10222" r="-36321" b="-15476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7510158" y="7136757"/>
            <a:ext cx="5363782" cy="39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9"/>
              </a:lnSpc>
            </a:pPr>
            <a:r>
              <a:rPr lang="en-US" sz="310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NGUYỄN THỊ TÀI LINH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8728" y="2620456"/>
            <a:ext cx="3528407" cy="310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4"/>
              </a:lnSpc>
            </a:pPr>
            <a:r>
              <a:rPr lang="en-US" sz="2368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NGUYỄN THỊ TÀI LINH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8728" y="3244805"/>
            <a:ext cx="3528407" cy="1196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4"/>
              </a:lnSpc>
            </a:pPr>
            <a:r>
              <a:rPr lang="en-US" sz="236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• Search Room </a:t>
            </a:r>
          </a:p>
          <a:p>
            <a:pPr algn="l">
              <a:lnSpc>
                <a:spcPts val="2344"/>
              </a:lnSpc>
            </a:pPr>
            <a:r>
              <a:rPr lang="en-US" sz="236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• Search Available Room • Payment Processing</a:t>
            </a:r>
          </a:p>
          <a:p>
            <a:pPr algn="l">
              <a:lnSpc>
                <a:spcPts val="2344"/>
              </a:lnSpc>
            </a:pPr>
            <a:r>
              <a:rPr lang="en-US" sz="236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• .....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15493" y="7136757"/>
            <a:ext cx="4219933" cy="39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8"/>
              </a:lnSpc>
            </a:pPr>
            <a:r>
              <a:rPr lang="en-US" sz="3099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NGUYỄN VĂN TIẾN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8728" y="6561812"/>
            <a:ext cx="3528407" cy="1491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4"/>
              </a:lnSpc>
            </a:pPr>
            <a:r>
              <a:rPr lang="en-US" sz="236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• User Management</a:t>
            </a:r>
          </a:p>
          <a:p>
            <a:pPr algn="l">
              <a:lnSpc>
                <a:spcPts val="2344"/>
              </a:lnSpc>
            </a:pPr>
            <a:r>
              <a:rPr lang="en-US" sz="236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• Room Type</a:t>
            </a:r>
          </a:p>
          <a:p>
            <a:pPr algn="l">
              <a:lnSpc>
                <a:spcPts val="2344"/>
              </a:lnSpc>
            </a:pPr>
            <a:r>
              <a:rPr lang="en-US" sz="236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• Room Management</a:t>
            </a:r>
          </a:p>
          <a:p>
            <a:pPr algn="l">
              <a:lnSpc>
                <a:spcPts val="2344"/>
              </a:lnSpc>
            </a:pPr>
            <a:r>
              <a:rPr lang="en-US" sz="2368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• ....</a:t>
            </a:r>
          </a:p>
          <a:p>
            <a:pPr algn="l">
              <a:lnSpc>
                <a:spcPts val="2344"/>
              </a:lnSpc>
            </a:pPr>
            <a:endParaRPr lang="en-US" sz="2368">
              <a:solidFill>
                <a:srgbClr val="FFFFFF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18728" y="6029823"/>
            <a:ext cx="3528407" cy="310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4"/>
              </a:lnSpc>
            </a:pPr>
            <a:r>
              <a:rPr lang="en-US" sz="2368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NGUYỄN VĂN TIẾN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236A">
                <a:alpha val="100000"/>
              </a:srgbClr>
            </a:gs>
            <a:gs pos="100000">
              <a:srgbClr val="4A5E9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02231" y="3991249"/>
            <a:ext cx="14166184" cy="5957592"/>
            <a:chOff x="0" y="0"/>
            <a:chExt cx="2335723" cy="9822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5723" cy="982289"/>
            </a:xfrm>
            <a:custGeom>
              <a:avLst/>
              <a:gdLst/>
              <a:ahLst/>
              <a:cxnLst/>
              <a:rect l="l" t="t" r="r" b="b"/>
              <a:pathLst>
                <a:path w="2335723" h="982289">
                  <a:moveTo>
                    <a:pt x="0" y="0"/>
                  </a:moveTo>
                  <a:lnTo>
                    <a:pt x="2335723" y="0"/>
                  </a:lnTo>
                  <a:lnTo>
                    <a:pt x="2335723" y="982289"/>
                  </a:lnTo>
                  <a:lnTo>
                    <a:pt x="0" y="982289"/>
                  </a:lnTo>
                  <a:close/>
                </a:path>
              </a:pathLst>
            </a:custGeom>
            <a:blipFill>
              <a:blip r:embed="rId2"/>
              <a:stretch>
                <a:fillRect t="-15317" b="-3574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2990425" y="393974"/>
            <a:ext cx="11786775" cy="287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99"/>
              </a:lnSpc>
            </a:pPr>
            <a:r>
              <a:rPr lang="en-US" sz="9999" dirty="0">
                <a:solidFill>
                  <a:srgbClr val="F0EEE9"/>
                </a:solidFill>
                <a:latin typeface="Elika Gorica"/>
                <a:ea typeface="Elika Gorica"/>
                <a:cs typeface="Elika Gorica"/>
                <a:sym typeface="Elika Gorica"/>
              </a:rPr>
              <a:t>Planning and Testing Methods</a:t>
            </a:r>
          </a:p>
        </p:txBody>
      </p:sp>
      <p:sp>
        <p:nvSpPr>
          <p:cNvPr id="5" name="AutoShape 5"/>
          <p:cNvSpPr/>
          <p:nvPr/>
        </p:nvSpPr>
        <p:spPr>
          <a:xfrm>
            <a:off x="311005" y="3629299"/>
            <a:ext cx="19101506" cy="0"/>
          </a:xfrm>
          <a:prstGeom prst="line">
            <a:avLst/>
          </a:prstGeom>
          <a:ln w="38100" cap="flat">
            <a:solidFill>
              <a:srgbClr val="F0EEE9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236A">
                <a:alpha val="100000"/>
              </a:srgbClr>
            </a:gs>
            <a:gs pos="100000">
              <a:srgbClr val="4A5E9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45133" y="3542758"/>
            <a:ext cx="13840753" cy="5503607"/>
          </a:xfrm>
          <a:custGeom>
            <a:avLst/>
            <a:gdLst/>
            <a:ahLst/>
            <a:cxnLst/>
            <a:rect l="l" t="t" r="r" b="b"/>
            <a:pathLst>
              <a:path w="13840753" h="5503607">
                <a:moveTo>
                  <a:pt x="0" y="0"/>
                </a:moveTo>
                <a:lnTo>
                  <a:pt x="13840753" y="0"/>
                </a:lnTo>
                <a:lnTo>
                  <a:pt x="13840753" y="5503606"/>
                </a:lnTo>
                <a:lnTo>
                  <a:pt x="0" y="5503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78940" y="567936"/>
            <a:ext cx="14106946" cy="2827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38"/>
              </a:lnSpc>
            </a:pPr>
            <a:r>
              <a:rPr lang="en-US" sz="8322" b="1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CUSTOMER SIDE/ TEST CASE REPORT</a:t>
            </a:r>
          </a:p>
          <a:p>
            <a:pPr algn="ctr">
              <a:lnSpc>
                <a:spcPts val="5816"/>
              </a:lnSpc>
            </a:pPr>
            <a:endParaRPr lang="en-US" sz="8322" b="1">
              <a:solidFill>
                <a:srgbClr val="FFFFFF"/>
              </a:solidFill>
              <a:latin typeface="TT Ramillas Bold"/>
              <a:ea typeface="TT Ramillas Bold"/>
              <a:cs typeface="TT Ramillas Bold"/>
              <a:sym typeface="TT Ramillas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236A">
                <a:alpha val="100000"/>
              </a:srgbClr>
            </a:gs>
            <a:gs pos="100000">
              <a:srgbClr val="4A5E9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37858" y="3407250"/>
            <a:ext cx="13048028" cy="5851050"/>
          </a:xfrm>
          <a:custGeom>
            <a:avLst/>
            <a:gdLst/>
            <a:ahLst/>
            <a:cxnLst/>
            <a:rect l="l" t="t" r="r" b="b"/>
            <a:pathLst>
              <a:path w="13048028" h="5851050">
                <a:moveTo>
                  <a:pt x="0" y="0"/>
                </a:moveTo>
                <a:lnTo>
                  <a:pt x="13048028" y="0"/>
                </a:lnTo>
                <a:lnTo>
                  <a:pt x="13048028" y="5851050"/>
                </a:lnTo>
                <a:lnTo>
                  <a:pt x="0" y="5851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78940" y="567936"/>
            <a:ext cx="14106946" cy="2827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38"/>
              </a:lnSpc>
            </a:pPr>
            <a:r>
              <a:rPr lang="en-US" sz="8322" b="1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CUSTOMER SIDE/ BUGS REPORT</a:t>
            </a:r>
          </a:p>
          <a:p>
            <a:pPr algn="ctr">
              <a:lnSpc>
                <a:spcPts val="5816"/>
              </a:lnSpc>
            </a:pPr>
            <a:endParaRPr lang="en-US" sz="8322" b="1">
              <a:solidFill>
                <a:srgbClr val="FFFFFF"/>
              </a:solidFill>
              <a:latin typeface="TT Ramillas Bold"/>
              <a:ea typeface="TT Ramillas Bold"/>
              <a:cs typeface="TT Ramillas Bold"/>
              <a:sym typeface="TT Ramillas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236A">
                <a:alpha val="100000"/>
              </a:srgbClr>
            </a:gs>
            <a:gs pos="100000">
              <a:srgbClr val="4A5E9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36097" y="4573097"/>
            <a:ext cx="15130356" cy="4092879"/>
          </a:xfrm>
          <a:custGeom>
            <a:avLst/>
            <a:gdLst/>
            <a:ahLst/>
            <a:cxnLst/>
            <a:rect l="l" t="t" r="r" b="b"/>
            <a:pathLst>
              <a:path w="15130356" h="4092879">
                <a:moveTo>
                  <a:pt x="0" y="0"/>
                </a:moveTo>
                <a:lnTo>
                  <a:pt x="15130356" y="0"/>
                </a:lnTo>
                <a:lnTo>
                  <a:pt x="15130356" y="4092880"/>
                </a:lnTo>
                <a:lnTo>
                  <a:pt x="0" y="4092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78940" y="567936"/>
            <a:ext cx="14106946" cy="3865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38"/>
              </a:lnSpc>
            </a:pPr>
            <a:r>
              <a:rPr lang="en-US" sz="8322" b="1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ADMINISTRATION SIDE (ADMIN)/ TEST CASE REPORT</a:t>
            </a:r>
          </a:p>
          <a:p>
            <a:pPr algn="ctr">
              <a:lnSpc>
                <a:spcPts val="5816"/>
              </a:lnSpc>
            </a:pPr>
            <a:endParaRPr lang="en-US" sz="8322" b="1">
              <a:solidFill>
                <a:srgbClr val="FFFFFF"/>
              </a:solidFill>
              <a:latin typeface="TT Ramillas Bold"/>
              <a:ea typeface="TT Ramillas Bold"/>
              <a:cs typeface="TT Ramillas Bold"/>
              <a:sym typeface="TT Ramillas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236A">
                <a:alpha val="100000"/>
              </a:srgbClr>
            </a:gs>
            <a:gs pos="100000">
              <a:srgbClr val="4A5E9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0250" y="4663361"/>
            <a:ext cx="15484219" cy="3736104"/>
          </a:xfrm>
          <a:custGeom>
            <a:avLst/>
            <a:gdLst/>
            <a:ahLst/>
            <a:cxnLst/>
            <a:rect l="l" t="t" r="r" b="b"/>
            <a:pathLst>
              <a:path w="15484219" h="3736104">
                <a:moveTo>
                  <a:pt x="0" y="0"/>
                </a:moveTo>
                <a:lnTo>
                  <a:pt x="15484219" y="0"/>
                </a:lnTo>
                <a:lnTo>
                  <a:pt x="15484219" y="3736104"/>
                </a:lnTo>
                <a:lnTo>
                  <a:pt x="0" y="37361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99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00250" y="1200150"/>
            <a:ext cx="14106946" cy="2827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38"/>
              </a:lnSpc>
            </a:pPr>
            <a:r>
              <a:rPr lang="en-US" sz="8322" b="1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ADMINISTRATION SIDE (ADMIN)/ BUGS REPORT</a:t>
            </a:r>
          </a:p>
          <a:p>
            <a:pPr algn="ctr">
              <a:lnSpc>
                <a:spcPts val="5816"/>
              </a:lnSpc>
            </a:pPr>
            <a:endParaRPr lang="en-US" sz="8322" b="1">
              <a:solidFill>
                <a:srgbClr val="FFFFFF"/>
              </a:solidFill>
              <a:latin typeface="TT Ramillas Bold"/>
              <a:ea typeface="TT Ramillas Bold"/>
              <a:cs typeface="TT Ramillas Bold"/>
              <a:sym typeface="TT Ramillas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483945"/>
            <a:ext cx="4996177" cy="5774355"/>
            <a:chOff x="0" y="0"/>
            <a:chExt cx="1360101" cy="15719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60101" cy="1571944"/>
            </a:xfrm>
            <a:custGeom>
              <a:avLst/>
              <a:gdLst/>
              <a:ahLst/>
              <a:cxnLst/>
              <a:rect l="l" t="t" r="r" b="b"/>
              <a:pathLst>
                <a:path w="1360101" h="1571944">
                  <a:moveTo>
                    <a:pt x="46487" y="0"/>
                  </a:moveTo>
                  <a:lnTo>
                    <a:pt x="1313614" y="0"/>
                  </a:lnTo>
                  <a:cubicBezTo>
                    <a:pt x="1339288" y="0"/>
                    <a:pt x="1360101" y="20813"/>
                    <a:pt x="1360101" y="46487"/>
                  </a:cubicBezTo>
                  <a:lnTo>
                    <a:pt x="1360101" y="1525457"/>
                  </a:lnTo>
                  <a:cubicBezTo>
                    <a:pt x="1360101" y="1537786"/>
                    <a:pt x="1355204" y="1549610"/>
                    <a:pt x="1346486" y="1558328"/>
                  </a:cubicBezTo>
                  <a:cubicBezTo>
                    <a:pt x="1337768" y="1567046"/>
                    <a:pt x="1325943" y="1571944"/>
                    <a:pt x="1313614" y="1571944"/>
                  </a:cubicBezTo>
                  <a:lnTo>
                    <a:pt x="46487" y="1571944"/>
                  </a:lnTo>
                  <a:cubicBezTo>
                    <a:pt x="20813" y="1571944"/>
                    <a:pt x="0" y="1551131"/>
                    <a:pt x="0" y="1525457"/>
                  </a:cubicBezTo>
                  <a:lnTo>
                    <a:pt x="0" y="46487"/>
                  </a:lnTo>
                  <a:cubicBezTo>
                    <a:pt x="0" y="20813"/>
                    <a:pt x="20813" y="0"/>
                    <a:pt x="4648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7236A">
                    <a:alpha val="100000"/>
                  </a:srgbClr>
                </a:gs>
                <a:gs pos="100000">
                  <a:srgbClr val="4A5E9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360101" cy="1590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51839" y="3888690"/>
            <a:ext cx="4349899" cy="3467412"/>
            <a:chOff x="0" y="0"/>
            <a:chExt cx="2037708" cy="16243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7708" cy="1624307"/>
            </a:xfrm>
            <a:custGeom>
              <a:avLst/>
              <a:gdLst/>
              <a:ahLst/>
              <a:cxnLst/>
              <a:rect l="l" t="t" r="r" b="b"/>
              <a:pathLst>
                <a:path w="2037708" h="1624307">
                  <a:moveTo>
                    <a:pt x="40935" y="0"/>
                  </a:moveTo>
                  <a:lnTo>
                    <a:pt x="1996772" y="0"/>
                  </a:lnTo>
                  <a:cubicBezTo>
                    <a:pt x="2019380" y="0"/>
                    <a:pt x="2037708" y="18327"/>
                    <a:pt x="2037708" y="40935"/>
                  </a:cubicBezTo>
                  <a:lnTo>
                    <a:pt x="2037708" y="1583372"/>
                  </a:lnTo>
                  <a:cubicBezTo>
                    <a:pt x="2037708" y="1594229"/>
                    <a:pt x="2033395" y="1604641"/>
                    <a:pt x="2025718" y="1612317"/>
                  </a:cubicBezTo>
                  <a:cubicBezTo>
                    <a:pt x="2018041" y="1619994"/>
                    <a:pt x="2007629" y="1624307"/>
                    <a:pt x="1996772" y="1624307"/>
                  </a:cubicBezTo>
                  <a:lnTo>
                    <a:pt x="40935" y="1624307"/>
                  </a:lnTo>
                  <a:cubicBezTo>
                    <a:pt x="18327" y="1624307"/>
                    <a:pt x="0" y="1605980"/>
                    <a:pt x="0" y="1583372"/>
                  </a:cubicBezTo>
                  <a:lnTo>
                    <a:pt x="0" y="40935"/>
                  </a:lnTo>
                  <a:cubicBezTo>
                    <a:pt x="0" y="18327"/>
                    <a:pt x="18327" y="0"/>
                    <a:pt x="40935" y="0"/>
                  </a:cubicBezTo>
                  <a:close/>
                </a:path>
              </a:pathLst>
            </a:custGeom>
            <a:blipFill>
              <a:blip r:embed="rId2"/>
              <a:stretch>
                <a:fillRect l="-40958" r="-40958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6645911" y="3483945"/>
            <a:ext cx="4996177" cy="5774355"/>
            <a:chOff x="0" y="0"/>
            <a:chExt cx="1360101" cy="15719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60101" cy="1571944"/>
            </a:xfrm>
            <a:custGeom>
              <a:avLst/>
              <a:gdLst/>
              <a:ahLst/>
              <a:cxnLst/>
              <a:rect l="l" t="t" r="r" b="b"/>
              <a:pathLst>
                <a:path w="1360101" h="1571944">
                  <a:moveTo>
                    <a:pt x="46487" y="0"/>
                  </a:moveTo>
                  <a:lnTo>
                    <a:pt x="1313614" y="0"/>
                  </a:lnTo>
                  <a:cubicBezTo>
                    <a:pt x="1339288" y="0"/>
                    <a:pt x="1360101" y="20813"/>
                    <a:pt x="1360101" y="46487"/>
                  </a:cubicBezTo>
                  <a:lnTo>
                    <a:pt x="1360101" y="1525457"/>
                  </a:lnTo>
                  <a:cubicBezTo>
                    <a:pt x="1360101" y="1537786"/>
                    <a:pt x="1355204" y="1549610"/>
                    <a:pt x="1346486" y="1558328"/>
                  </a:cubicBezTo>
                  <a:cubicBezTo>
                    <a:pt x="1337768" y="1567046"/>
                    <a:pt x="1325943" y="1571944"/>
                    <a:pt x="1313614" y="1571944"/>
                  </a:cubicBezTo>
                  <a:lnTo>
                    <a:pt x="46487" y="1571944"/>
                  </a:lnTo>
                  <a:cubicBezTo>
                    <a:pt x="20813" y="1571944"/>
                    <a:pt x="0" y="1551131"/>
                    <a:pt x="0" y="1525457"/>
                  </a:cubicBezTo>
                  <a:lnTo>
                    <a:pt x="0" y="46487"/>
                  </a:lnTo>
                  <a:cubicBezTo>
                    <a:pt x="0" y="20813"/>
                    <a:pt x="20813" y="0"/>
                    <a:pt x="46487" y="0"/>
                  </a:cubicBezTo>
                  <a:close/>
                </a:path>
              </a:pathLst>
            </a:custGeom>
            <a:solidFill>
              <a:srgbClr val="07236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360101" cy="1590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2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69050" y="3888690"/>
            <a:ext cx="4349899" cy="3467412"/>
            <a:chOff x="0" y="0"/>
            <a:chExt cx="2037708" cy="162430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7708" cy="1624307"/>
            </a:xfrm>
            <a:custGeom>
              <a:avLst/>
              <a:gdLst/>
              <a:ahLst/>
              <a:cxnLst/>
              <a:rect l="l" t="t" r="r" b="b"/>
              <a:pathLst>
                <a:path w="2037708" h="1624307">
                  <a:moveTo>
                    <a:pt x="40935" y="0"/>
                  </a:moveTo>
                  <a:lnTo>
                    <a:pt x="1996772" y="0"/>
                  </a:lnTo>
                  <a:cubicBezTo>
                    <a:pt x="2019380" y="0"/>
                    <a:pt x="2037708" y="18327"/>
                    <a:pt x="2037708" y="40935"/>
                  </a:cubicBezTo>
                  <a:lnTo>
                    <a:pt x="2037708" y="1583372"/>
                  </a:lnTo>
                  <a:cubicBezTo>
                    <a:pt x="2037708" y="1594229"/>
                    <a:pt x="2033395" y="1604641"/>
                    <a:pt x="2025718" y="1612317"/>
                  </a:cubicBezTo>
                  <a:cubicBezTo>
                    <a:pt x="2018041" y="1619994"/>
                    <a:pt x="2007629" y="1624307"/>
                    <a:pt x="1996772" y="1624307"/>
                  </a:cubicBezTo>
                  <a:lnTo>
                    <a:pt x="40935" y="1624307"/>
                  </a:lnTo>
                  <a:cubicBezTo>
                    <a:pt x="18327" y="1624307"/>
                    <a:pt x="0" y="1605980"/>
                    <a:pt x="0" y="1583372"/>
                  </a:cubicBezTo>
                  <a:lnTo>
                    <a:pt x="0" y="40935"/>
                  </a:lnTo>
                  <a:cubicBezTo>
                    <a:pt x="0" y="18327"/>
                    <a:pt x="18327" y="0"/>
                    <a:pt x="40935" y="0"/>
                  </a:cubicBezTo>
                  <a:close/>
                </a:path>
              </a:pathLst>
            </a:custGeom>
            <a:blipFill>
              <a:blip r:embed="rId3"/>
              <a:stretch>
                <a:fillRect l="-52087" r="-10289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2263123" y="3483945"/>
            <a:ext cx="4996177" cy="5774355"/>
            <a:chOff x="0" y="0"/>
            <a:chExt cx="1360101" cy="15719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60101" cy="1571944"/>
            </a:xfrm>
            <a:custGeom>
              <a:avLst/>
              <a:gdLst/>
              <a:ahLst/>
              <a:cxnLst/>
              <a:rect l="l" t="t" r="r" b="b"/>
              <a:pathLst>
                <a:path w="1360101" h="1571944">
                  <a:moveTo>
                    <a:pt x="46487" y="0"/>
                  </a:moveTo>
                  <a:lnTo>
                    <a:pt x="1313614" y="0"/>
                  </a:lnTo>
                  <a:cubicBezTo>
                    <a:pt x="1339288" y="0"/>
                    <a:pt x="1360101" y="20813"/>
                    <a:pt x="1360101" y="46487"/>
                  </a:cubicBezTo>
                  <a:lnTo>
                    <a:pt x="1360101" y="1525457"/>
                  </a:lnTo>
                  <a:cubicBezTo>
                    <a:pt x="1360101" y="1537786"/>
                    <a:pt x="1355204" y="1549610"/>
                    <a:pt x="1346486" y="1558328"/>
                  </a:cubicBezTo>
                  <a:cubicBezTo>
                    <a:pt x="1337768" y="1567046"/>
                    <a:pt x="1325943" y="1571944"/>
                    <a:pt x="1313614" y="1571944"/>
                  </a:cubicBezTo>
                  <a:lnTo>
                    <a:pt x="46487" y="1571944"/>
                  </a:lnTo>
                  <a:cubicBezTo>
                    <a:pt x="20813" y="1571944"/>
                    <a:pt x="0" y="1551131"/>
                    <a:pt x="0" y="1525457"/>
                  </a:cubicBezTo>
                  <a:lnTo>
                    <a:pt x="0" y="46487"/>
                  </a:lnTo>
                  <a:cubicBezTo>
                    <a:pt x="0" y="20813"/>
                    <a:pt x="20813" y="0"/>
                    <a:pt x="46487" y="0"/>
                  </a:cubicBezTo>
                  <a:close/>
                </a:path>
              </a:pathLst>
            </a:custGeom>
            <a:solidFill>
              <a:srgbClr val="07236A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360101" cy="1590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2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586262" y="3888690"/>
            <a:ext cx="4349899" cy="3467412"/>
            <a:chOff x="0" y="0"/>
            <a:chExt cx="2037708" cy="162430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37708" cy="1624307"/>
            </a:xfrm>
            <a:custGeom>
              <a:avLst/>
              <a:gdLst/>
              <a:ahLst/>
              <a:cxnLst/>
              <a:rect l="l" t="t" r="r" b="b"/>
              <a:pathLst>
                <a:path w="2037708" h="1624307">
                  <a:moveTo>
                    <a:pt x="40935" y="0"/>
                  </a:moveTo>
                  <a:lnTo>
                    <a:pt x="1996772" y="0"/>
                  </a:lnTo>
                  <a:cubicBezTo>
                    <a:pt x="2019380" y="0"/>
                    <a:pt x="2037708" y="18327"/>
                    <a:pt x="2037708" y="40935"/>
                  </a:cubicBezTo>
                  <a:lnTo>
                    <a:pt x="2037708" y="1583372"/>
                  </a:lnTo>
                  <a:cubicBezTo>
                    <a:pt x="2037708" y="1594229"/>
                    <a:pt x="2033395" y="1604641"/>
                    <a:pt x="2025718" y="1612317"/>
                  </a:cubicBezTo>
                  <a:cubicBezTo>
                    <a:pt x="2018041" y="1619994"/>
                    <a:pt x="2007629" y="1624307"/>
                    <a:pt x="1996772" y="1624307"/>
                  </a:cubicBezTo>
                  <a:lnTo>
                    <a:pt x="40935" y="1624307"/>
                  </a:lnTo>
                  <a:cubicBezTo>
                    <a:pt x="18327" y="1624307"/>
                    <a:pt x="0" y="1605980"/>
                    <a:pt x="0" y="1583372"/>
                  </a:cubicBezTo>
                  <a:lnTo>
                    <a:pt x="0" y="40935"/>
                  </a:lnTo>
                  <a:cubicBezTo>
                    <a:pt x="0" y="18327"/>
                    <a:pt x="18327" y="0"/>
                    <a:pt x="40935" y="0"/>
                  </a:cubicBezTo>
                  <a:close/>
                </a:path>
              </a:pathLst>
            </a:custGeom>
            <a:blipFill>
              <a:blip r:embed="rId4"/>
              <a:stretch>
                <a:fillRect l="-1649" r="-75847"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2622502" y="7658791"/>
            <a:ext cx="1844374" cy="318574"/>
          </a:xfrm>
          <a:custGeom>
            <a:avLst/>
            <a:gdLst/>
            <a:ahLst/>
            <a:cxnLst/>
            <a:rect l="l" t="t" r="r" b="b"/>
            <a:pathLst>
              <a:path w="1844374" h="318574">
                <a:moveTo>
                  <a:pt x="0" y="0"/>
                </a:moveTo>
                <a:lnTo>
                  <a:pt x="1844374" y="0"/>
                </a:lnTo>
                <a:lnTo>
                  <a:pt x="1844374" y="318574"/>
                </a:lnTo>
                <a:lnTo>
                  <a:pt x="0" y="3185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266559" y="7674186"/>
            <a:ext cx="1844374" cy="318574"/>
          </a:xfrm>
          <a:custGeom>
            <a:avLst/>
            <a:gdLst/>
            <a:ahLst/>
            <a:cxnLst/>
            <a:rect l="l" t="t" r="r" b="b"/>
            <a:pathLst>
              <a:path w="1844374" h="318574">
                <a:moveTo>
                  <a:pt x="0" y="0"/>
                </a:moveTo>
                <a:lnTo>
                  <a:pt x="1844374" y="0"/>
                </a:lnTo>
                <a:lnTo>
                  <a:pt x="1844374" y="318574"/>
                </a:lnTo>
                <a:lnTo>
                  <a:pt x="0" y="3185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3910616" y="7689581"/>
            <a:ext cx="1844374" cy="318574"/>
          </a:xfrm>
          <a:custGeom>
            <a:avLst/>
            <a:gdLst/>
            <a:ahLst/>
            <a:cxnLst/>
            <a:rect l="l" t="t" r="r" b="b"/>
            <a:pathLst>
              <a:path w="1844374" h="318574">
                <a:moveTo>
                  <a:pt x="0" y="0"/>
                </a:moveTo>
                <a:lnTo>
                  <a:pt x="1844374" y="0"/>
                </a:lnTo>
                <a:lnTo>
                  <a:pt x="1844374" y="318574"/>
                </a:lnTo>
                <a:lnTo>
                  <a:pt x="0" y="3185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66438" y="1909219"/>
            <a:ext cx="16644616" cy="72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18"/>
              </a:lnSpc>
            </a:pPr>
            <a:r>
              <a:rPr lang="en-US" sz="5473" b="1">
                <a:solidFill>
                  <a:srgbClr val="1F1F1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SYSTEM DEMO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51839" y="8274024"/>
            <a:ext cx="4349899" cy="580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3"/>
              </a:lnSpc>
            </a:pPr>
            <a:r>
              <a:rPr lang="en-US" sz="3388" b="1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HOMEPAGE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69050" y="8289346"/>
            <a:ext cx="4349899" cy="580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3"/>
              </a:lnSpc>
            </a:pPr>
            <a:r>
              <a:rPr lang="en-US" sz="3388" b="1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BOOKING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57854" y="8289346"/>
            <a:ext cx="4421670" cy="580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3"/>
              </a:lnSpc>
            </a:pPr>
            <a:r>
              <a:rPr lang="en-US" sz="3388" b="1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ADMIN DASHBOARD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-989567" y="122634"/>
            <a:ext cx="5918002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5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COURSE ST84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574962"/>
            <a:ext cx="8115300" cy="1330538"/>
            <a:chOff x="0" y="0"/>
            <a:chExt cx="3564291" cy="5843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64291" cy="584381"/>
            </a:xfrm>
            <a:custGeom>
              <a:avLst/>
              <a:gdLst/>
              <a:ahLst/>
              <a:cxnLst/>
              <a:rect l="l" t="t" r="r" b="b"/>
              <a:pathLst>
                <a:path w="3564291" h="584381">
                  <a:moveTo>
                    <a:pt x="27666" y="0"/>
                  </a:moveTo>
                  <a:lnTo>
                    <a:pt x="3536625" y="0"/>
                  </a:lnTo>
                  <a:cubicBezTo>
                    <a:pt x="3551904" y="0"/>
                    <a:pt x="3564291" y="12386"/>
                    <a:pt x="3564291" y="27666"/>
                  </a:cubicBezTo>
                  <a:lnTo>
                    <a:pt x="3564291" y="556715"/>
                  </a:lnTo>
                  <a:cubicBezTo>
                    <a:pt x="3564291" y="571994"/>
                    <a:pt x="3551904" y="584381"/>
                    <a:pt x="3536625" y="584381"/>
                  </a:cubicBezTo>
                  <a:lnTo>
                    <a:pt x="27666" y="584381"/>
                  </a:lnTo>
                  <a:cubicBezTo>
                    <a:pt x="12386" y="584381"/>
                    <a:pt x="0" y="571994"/>
                    <a:pt x="0" y="556715"/>
                  </a:cubicBezTo>
                  <a:lnTo>
                    <a:pt x="0" y="27666"/>
                  </a:lnTo>
                  <a:cubicBezTo>
                    <a:pt x="0" y="12386"/>
                    <a:pt x="12386" y="0"/>
                    <a:pt x="27666" y="0"/>
                  </a:cubicBezTo>
                  <a:close/>
                </a:path>
              </a:pathLst>
            </a:custGeom>
            <a:solidFill>
              <a:srgbClr val="07236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3564291" cy="603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6215297"/>
            <a:ext cx="8115300" cy="1330538"/>
            <a:chOff x="0" y="0"/>
            <a:chExt cx="3564291" cy="5843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64291" cy="584381"/>
            </a:xfrm>
            <a:custGeom>
              <a:avLst/>
              <a:gdLst/>
              <a:ahLst/>
              <a:cxnLst/>
              <a:rect l="l" t="t" r="r" b="b"/>
              <a:pathLst>
                <a:path w="3564291" h="584381">
                  <a:moveTo>
                    <a:pt x="27666" y="0"/>
                  </a:moveTo>
                  <a:lnTo>
                    <a:pt x="3536625" y="0"/>
                  </a:lnTo>
                  <a:cubicBezTo>
                    <a:pt x="3551904" y="0"/>
                    <a:pt x="3564291" y="12386"/>
                    <a:pt x="3564291" y="27666"/>
                  </a:cubicBezTo>
                  <a:lnTo>
                    <a:pt x="3564291" y="556715"/>
                  </a:lnTo>
                  <a:cubicBezTo>
                    <a:pt x="3564291" y="571994"/>
                    <a:pt x="3551904" y="584381"/>
                    <a:pt x="3536625" y="584381"/>
                  </a:cubicBezTo>
                  <a:lnTo>
                    <a:pt x="27666" y="584381"/>
                  </a:lnTo>
                  <a:cubicBezTo>
                    <a:pt x="12386" y="584381"/>
                    <a:pt x="0" y="571994"/>
                    <a:pt x="0" y="556715"/>
                  </a:cubicBezTo>
                  <a:lnTo>
                    <a:pt x="0" y="27666"/>
                  </a:lnTo>
                  <a:cubicBezTo>
                    <a:pt x="0" y="12386"/>
                    <a:pt x="12386" y="0"/>
                    <a:pt x="2766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7236A">
                    <a:alpha val="100000"/>
                  </a:srgbClr>
                </a:gs>
                <a:gs pos="100000">
                  <a:srgbClr val="4A5E9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3564291" cy="603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2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7927762"/>
            <a:ext cx="8115300" cy="1330538"/>
            <a:chOff x="0" y="0"/>
            <a:chExt cx="3564291" cy="5843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64291" cy="584381"/>
            </a:xfrm>
            <a:custGeom>
              <a:avLst/>
              <a:gdLst/>
              <a:ahLst/>
              <a:cxnLst/>
              <a:rect l="l" t="t" r="r" b="b"/>
              <a:pathLst>
                <a:path w="3564291" h="584381">
                  <a:moveTo>
                    <a:pt x="27666" y="0"/>
                  </a:moveTo>
                  <a:lnTo>
                    <a:pt x="3536625" y="0"/>
                  </a:lnTo>
                  <a:cubicBezTo>
                    <a:pt x="3551904" y="0"/>
                    <a:pt x="3564291" y="12386"/>
                    <a:pt x="3564291" y="27666"/>
                  </a:cubicBezTo>
                  <a:lnTo>
                    <a:pt x="3564291" y="556715"/>
                  </a:lnTo>
                  <a:cubicBezTo>
                    <a:pt x="3564291" y="571994"/>
                    <a:pt x="3551904" y="584381"/>
                    <a:pt x="3536625" y="584381"/>
                  </a:cubicBezTo>
                  <a:lnTo>
                    <a:pt x="27666" y="584381"/>
                  </a:lnTo>
                  <a:cubicBezTo>
                    <a:pt x="12386" y="584381"/>
                    <a:pt x="0" y="571994"/>
                    <a:pt x="0" y="556715"/>
                  </a:cubicBezTo>
                  <a:lnTo>
                    <a:pt x="0" y="27666"/>
                  </a:lnTo>
                  <a:cubicBezTo>
                    <a:pt x="0" y="12386"/>
                    <a:pt x="12386" y="0"/>
                    <a:pt x="27666" y="0"/>
                  </a:cubicBezTo>
                  <a:close/>
                </a:path>
              </a:pathLst>
            </a:custGeom>
            <a:solidFill>
              <a:srgbClr val="07236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3564291" cy="603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2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77655" y="1879647"/>
            <a:ext cx="7281645" cy="7378653"/>
            <a:chOff x="0" y="0"/>
            <a:chExt cx="802114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02114" cy="812800"/>
            </a:xfrm>
            <a:custGeom>
              <a:avLst/>
              <a:gdLst/>
              <a:ahLst/>
              <a:cxnLst/>
              <a:rect l="l" t="t" r="r" b="b"/>
              <a:pathLst>
                <a:path w="802114" h="812800">
                  <a:moveTo>
                    <a:pt x="24454" y="0"/>
                  </a:moveTo>
                  <a:lnTo>
                    <a:pt x="777660" y="0"/>
                  </a:lnTo>
                  <a:cubicBezTo>
                    <a:pt x="784146" y="0"/>
                    <a:pt x="790366" y="2576"/>
                    <a:pt x="794952" y="7162"/>
                  </a:cubicBezTo>
                  <a:cubicBezTo>
                    <a:pt x="799538" y="11748"/>
                    <a:pt x="802114" y="17968"/>
                    <a:pt x="802114" y="24454"/>
                  </a:cubicBezTo>
                  <a:lnTo>
                    <a:pt x="802114" y="788346"/>
                  </a:lnTo>
                  <a:cubicBezTo>
                    <a:pt x="802114" y="794832"/>
                    <a:pt x="799538" y="801052"/>
                    <a:pt x="794952" y="805638"/>
                  </a:cubicBezTo>
                  <a:cubicBezTo>
                    <a:pt x="790366" y="810224"/>
                    <a:pt x="784146" y="812800"/>
                    <a:pt x="777660" y="812800"/>
                  </a:cubicBezTo>
                  <a:lnTo>
                    <a:pt x="24454" y="812800"/>
                  </a:lnTo>
                  <a:cubicBezTo>
                    <a:pt x="17968" y="812800"/>
                    <a:pt x="11748" y="810224"/>
                    <a:pt x="7162" y="805638"/>
                  </a:cubicBezTo>
                  <a:cubicBezTo>
                    <a:pt x="2576" y="801052"/>
                    <a:pt x="0" y="794832"/>
                    <a:pt x="0" y="788346"/>
                  </a:cubicBezTo>
                  <a:lnTo>
                    <a:pt x="0" y="24454"/>
                  </a:lnTo>
                  <a:cubicBezTo>
                    <a:pt x="0" y="17968"/>
                    <a:pt x="2576" y="11748"/>
                    <a:pt x="7162" y="7162"/>
                  </a:cubicBezTo>
                  <a:cubicBezTo>
                    <a:pt x="11748" y="2576"/>
                    <a:pt x="17968" y="0"/>
                    <a:pt x="24454" y="0"/>
                  </a:cubicBezTo>
                  <a:close/>
                </a:path>
              </a:pathLst>
            </a:custGeom>
            <a:blipFill>
              <a:blip r:embed="rId2"/>
              <a:stretch>
                <a:fillRect l="-26046" r="-26046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514169" y="4703142"/>
            <a:ext cx="683216" cy="931130"/>
          </a:xfrm>
          <a:custGeom>
            <a:avLst/>
            <a:gdLst/>
            <a:ahLst/>
            <a:cxnLst/>
            <a:rect l="l" t="t" r="r" b="b"/>
            <a:pathLst>
              <a:path w="683216" h="931130">
                <a:moveTo>
                  <a:pt x="0" y="0"/>
                </a:moveTo>
                <a:lnTo>
                  <a:pt x="683217" y="0"/>
                </a:lnTo>
                <a:lnTo>
                  <a:pt x="683217" y="931130"/>
                </a:lnTo>
                <a:lnTo>
                  <a:pt x="0" y="931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514169" y="6415001"/>
            <a:ext cx="683216" cy="931130"/>
          </a:xfrm>
          <a:custGeom>
            <a:avLst/>
            <a:gdLst/>
            <a:ahLst/>
            <a:cxnLst/>
            <a:rect l="l" t="t" r="r" b="b"/>
            <a:pathLst>
              <a:path w="683216" h="931130">
                <a:moveTo>
                  <a:pt x="0" y="0"/>
                </a:moveTo>
                <a:lnTo>
                  <a:pt x="683217" y="0"/>
                </a:lnTo>
                <a:lnTo>
                  <a:pt x="683217" y="931130"/>
                </a:lnTo>
                <a:lnTo>
                  <a:pt x="0" y="931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14169" y="8127466"/>
            <a:ext cx="683216" cy="931130"/>
          </a:xfrm>
          <a:custGeom>
            <a:avLst/>
            <a:gdLst/>
            <a:ahLst/>
            <a:cxnLst/>
            <a:rect l="l" t="t" r="r" b="b"/>
            <a:pathLst>
              <a:path w="683216" h="931130">
                <a:moveTo>
                  <a:pt x="0" y="0"/>
                </a:moveTo>
                <a:lnTo>
                  <a:pt x="683217" y="0"/>
                </a:lnTo>
                <a:lnTo>
                  <a:pt x="683217" y="931130"/>
                </a:lnTo>
                <a:lnTo>
                  <a:pt x="0" y="931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28700" y="1671709"/>
            <a:ext cx="8115300" cy="2126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88"/>
              </a:lnSpc>
            </a:pPr>
            <a:r>
              <a:rPr lang="en-US" sz="8270" b="1" dirty="0">
                <a:solidFill>
                  <a:srgbClr val="1F1F1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PROJECT CONCLUSION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26408" y="4789383"/>
            <a:ext cx="6282841" cy="796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279" spc="84" dirty="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Completed manual testing for all assigned modules.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26408" y="6367376"/>
            <a:ext cx="6282841" cy="796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279" spc="84" dirty="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Detected and documented software defects through Bug Reports.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26408" y="8171160"/>
            <a:ext cx="6282841" cy="796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279" spc="84" dirty="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Enhance system performance, security and automation testing in future development.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085721"/>
            <a:ext cx="7925383" cy="4172579"/>
            <a:chOff x="0" y="0"/>
            <a:chExt cx="1796768" cy="9459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96768" cy="945968"/>
            </a:xfrm>
            <a:custGeom>
              <a:avLst/>
              <a:gdLst/>
              <a:ahLst/>
              <a:cxnLst/>
              <a:rect l="l" t="t" r="r" b="b"/>
              <a:pathLst>
                <a:path w="1796768" h="945968">
                  <a:moveTo>
                    <a:pt x="34190" y="0"/>
                  </a:moveTo>
                  <a:lnTo>
                    <a:pt x="1762579" y="0"/>
                  </a:lnTo>
                  <a:cubicBezTo>
                    <a:pt x="1771646" y="0"/>
                    <a:pt x="1780343" y="3602"/>
                    <a:pt x="1786755" y="10014"/>
                  </a:cubicBezTo>
                  <a:cubicBezTo>
                    <a:pt x="1793166" y="16426"/>
                    <a:pt x="1796768" y="25122"/>
                    <a:pt x="1796768" y="34190"/>
                  </a:cubicBezTo>
                  <a:lnTo>
                    <a:pt x="1796768" y="911778"/>
                  </a:lnTo>
                  <a:cubicBezTo>
                    <a:pt x="1796768" y="920846"/>
                    <a:pt x="1793166" y="929542"/>
                    <a:pt x="1786755" y="935954"/>
                  </a:cubicBezTo>
                  <a:cubicBezTo>
                    <a:pt x="1780343" y="942366"/>
                    <a:pt x="1771646" y="945968"/>
                    <a:pt x="1762579" y="945968"/>
                  </a:cubicBezTo>
                  <a:lnTo>
                    <a:pt x="34190" y="945968"/>
                  </a:lnTo>
                  <a:cubicBezTo>
                    <a:pt x="25122" y="945968"/>
                    <a:pt x="16426" y="942366"/>
                    <a:pt x="10014" y="935954"/>
                  </a:cubicBezTo>
                  <a:cubicBezTo>
                    <a:pt x="3602" y="929542"/>
                    <a:pt x="0" y="920846"/>
                    <a:pt x="0" y="911778"/>
                  </a:cubicBezTo>
                  <a:lnTo>
                    <a:pt x="0" y="34190"/>
                  </a:lnTo>
                  <a:cubicBezTo>
                    <a:pt x="0" y="25122"/>
                    <a:pt x="3602" y="16426"/>
                    <a:pt x="10014" y="10014"/>
                  </a:cubicBezTo>
                  <a:cubicBezTo>
                    <a:pt x="16426" y="3602"/>
                    <a:pt x="25122" y="0"/>
                    <a:pt x="341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7236A">
                    <a:alpha val="100000"/>
                  </a:srgbClr>
                </a:gs>
                <a:gs pos="100000">
                  <a:srgbClr val="4A5E9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796768" cy="965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44114" y="5085721"/>
            <a:ext cx="7925383" cy="4172579"/>
            <a:chOff x="0" y="0"/>
            <a:chExt cx="1796768" cy="945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96768" cy="945968"/>
            </a:xfrm>
            <a:custGeom>
              <a:avLst/>
              <a:gdLst/>
              <a:ahLst/>
              <a:cxnLst/>
              <a:rect l="l" t="t" r="r" b="b"/>
              <a:pathLst>
                <a:path w="1796768" h="945968">
                  <a:moveTo>
                    <a:pt x="34190" y="0"/>
                  </a:moveTo>
                  <a:lnTo>
                    <a:pt x="1762579" y="0"/>
                  </a:lnTo>
                  <a:cubicBezTo>
                    <a:pt x="1771646" y="0"/>
                    <a:pt x="1780343" y="3602"/>
                    <a:pt x="1786755" y="10014"/>
                  </a:cubicBezTo>
                  <a:cubicBezTo>
                    <a:pt x="1793166" y="16426"/>
                    <a:pt x="1796768" y="25122"/>
                    <a:pt x="1796768" y="34190"/>
                  </a:cubicBezTo>
                  <a:lnTo>
                    <a:pt x="1796768" y="911778"/>
                  </a:lnTo>
                  <a:cubicBezTo>
                    <a:pt x="1796768" y="920846"/>
                    <a:pt x="1793166" y="929542"/>
                    <a:pt x="1786755" y="935954"/>
                  </a:cubicBezTo>
                  <a:cubicBezTo>
                    <a:pt x="1780343" y="942366"/>
                    <a:pt x="1771646" y="945968"/>
                    <a:pt x="1762579" y="945968"/>
                  </a:cubicBezTo>
                  <a:lnTo>
                    <a:pt x="34190" y="945968"/>
                  </a:lnTo>
                  <a:cubicBezTo>
                    <a:pt x="25122" y="945968"/>
                    <a:pt x="16426" y="942366"/>
                    <a:pt x="10014" y="935954"/>
                  </a:cubicBezTo>
                  <a:cubicBezTo>
                    <a:pt x="3602" y="929542"/>
                    <a:pt x="0" y="920846"/>
                    <a:pt x="0" y="911778"/>
                  </a:cubicBezTo>
                  <a:lnTo>
                    <a:pt x="0" y="34190"/>
                  </a:lnTo>
                  <a:cubicBezTo>
                    <a:pt x="0" y="25122"/>
                    <a:pt x="3602" y="16426"/>
                    <a:pt x="10014" y="10014"/>
                  </a:cubicBezTo>
                  <a:cubicBezTo>
                    <a:pt x="16426" y="3602"/>
                    <a:pt x="25122" y="0"/>
                    <a:pt x="341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7236A">
                    <a:alpha val="100000"/>
                  </a:srgbClr>
                </a:gs>
                <a:gs pos="100000">
                  <a:srgbClr val="4A5E9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796768" cy="965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2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851567" y="4351894"/>
            <a:ext cx="4445042" cy="4982606"/>
          </a:xfrm>
          <a:custGeom>
            <a:avLst/>
            <a:gdLst/>
            <a:ahLst/>
            <a:cxnLst/>
            <a:rect l="l" t="t" r="r" b="b"/>
            <a:pathLst>
              <a:path w="4445042" h="4982606">
                <a:moveTo>
                  <a:pt x="0" y="0"/>
                </a:moveTo>
                <a:lnTo>
                  <a:pt x="4445042" y="0"/>
                </a:lnTo>
                <a:lnTo>
                  <a:pt x="4445042" y="4982606"/>
                </a:lnTo>
                <a:lnTo>
                  <a:pt x="0" y="4982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413" r="-30831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166720" y="5735487"/>
            <a:ext cx="435496" cy="413721"/>
          </a:xfrm>
          <a:custGeom>
            <a:avLst/>
            <a:gdLst/>
            <a:ahLst/>
            <a:cxnLst/>
            <a:rect l="l" t="t" r="r" b="b"/>
            <a:pathLst>
              <a:path w="435496" h="413721">
                <a:moveTo>
                  <a:pt x="0" y="0"/>
                </a:moveTo>
                <a:lnTo>
                  <a:pt x="435496" y="0"/>
                </a:lnTo>
                <a:lnTo>
                  <a:pt x="435496" y="413721"/>
                </a:lnTo>
                <a:lnTo>
                  <a:pt x="0" y="4137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861112" y="5528626"/>
            <a:ext cx="435496" cy="413721"/>
          </a:xfrm>
          <a:custGeom>
            <a:avLst/>
            <a:gdLst/>
            <a:ahLst/>
            <a:cxnLst/>
            <a:rect l="l" t="t" r="r" b="b"/>
            <a:pathLst>
              <a:path w="435496" h="413721">
                <a:moveTo>
                  <a:pt x="0" y="0"/>
                </a:moveTo>
                <a:lnTo>
                  <a:pt x="435497" y="0"/>
                </a:lnTo>
                <a:lnTo>
                  <a:pt x="435497" y="413721"/>
                </a:lnTo>
                <a:lnTo>
                  <a:pt x="0" y="4137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28700" y="4588513"/>
            <a:ext cx="4024258" cy="4669787"/>
          </a:xfrm>
          <a:custGeom>
            <a:avLst/>
            <a:gdLst/>
            <a:ahLst/>
            <a:cxnLst/>
            <a:rect l="l" t="t" r="r" b="b"/>
            <a:pathLst>
              <a:path w="4024258" h="4669787">
                <a:moveTo>
                  <a:pt x="0" y="0"/>
                </a:moveTo>
                <a:lnTo>
                  <a:pt x="4024258" y="0"/>
                </a:lnTo>
                <a:lnTo>
                  <a:pt x="4024258" y="4669787"/>
                </a:lnTo>
                <a:lnTo>
                  <a:pt x="0" y="466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368414" y="1718250"/>
            <a:ext cx="14005717" cy="1713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40"/>
              </a:lnSpc>
            </a:pPr>
            <a:r>
              <a:rPr lang="en-US" sz="6202" b="1" dirty="0">
                <a:solidFill>
                  <a:srgbClr val="1F1F1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LESSONS LEARNED &amp; CHALLENGES</a:t>
            </a:r>
          </a:p>
          <a:p>
            <a:pPr algn="just">
              <a:lnSpc>
                <a:spcPts val="7003"/>
              </a:lnSpc>
            </a:pPr>
            <a:endParaRPr lang="en-US" sz="6202" b="1" dirty="0">
              <a:solidFill>
                <a:srgbClr val="1F1F1F"/>
              </a:solidFill>
              <a:latin typeface="TT Ramillas Bold"/>
              <a:ea typeface="TT Ramillas Bold"/>
              <a:cs typeface="TT Ramillas Bold"/>
              <a:sym typeface="TT Ramilla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824302" y="5408357"/>
            <a:ext cx="2744766" cy="76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2987" b="1" dirty="0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TECHNICAL SKILLS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419837" y="5595301"/>
            <a:ext cx="2744766" cy="38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2987" b="1" dirty="0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CHALLENGES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02216" y="6384644"/>
            <a:ext cx="3664447" cy="2145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2100" b="1" spc="159" dirty="0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• Improve Test Case Design and Execution.</a:t>
            </a:r>
          </a:p>
          <a:p>
            <a:pPr algn="l">
              <a:lnSpc>
                <a:spcPts val="2079"/>
              </a:lnSpc>
            </a:pPr>
            <a:r>
              <a:rPr lang="en-US" sz="2100" b="1" spc="159" dirty="0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• Gain practical experience in Bug Reporting.</a:t>
            </a:r>
          </a:p>
          <a:p>
            <a:pPr algn="l">
              <a:lnSpc>
                <a:spcPts val="2079"/>
              </a:lnSpc>
            </a:pPr>
            <a:r>
              <a:rPr lang="en-US" sz="2100" b="1" spc="159" dirty="0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• Improve software quality through Manual Testing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96609" y="6187308"/>
            <a:ext cx="3962691" cy="259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2270" b="1" spc="172" dirty="0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• Understanding complex SRS documents.</a:t>
            </a:r>
          </a:p>
          <a:p>
            <a:pPr algn="l">
              <a:lnSpc>
                <a:spcPts val="2248"/>
              </a:lnSpc>
            </a:pPr>
            <a:r>
              <a:rPr lang="en-US" sz="2270" b="1" spc="172" dirty="0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• Designing comprehensive Test Cases.</a:t>
            </a:r>
          </a:p>
          <a:p>
            <a:pPr algn="l">
              <a:lnSpc>
                <a:spcPts val="2248"/>
              </a:lnSpc>
            </a:pPr>
            <a:r>
              <a:rPr lang="en-US" sz="2270" b="1" spc="172" dirty="0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• Limited project timeline.</a:t>
            </a:r>
          </a:p>
          <a:p>
            <a:pPr algn="l">
              <a:lnSpc>
                <a:spcPts val="2248"/>
              </a:lnSpc>
            </a:pPr>
            <a:r>
              <a:rPr lang="en-US" sz="2270" b="1" spc="172" dirty="0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• Managing defects during testing.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236A">
                <a:alpha val="100000"/>
              </a:srgbClr>
            </a:gs>
            <a:gs pos="100000">
              <a:srgbClr val="4A5E9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897370"/>
            <a:ext cx="11367135" cy="1866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23"/>
              </a:lnSpc>
            </a:pPr>
            <a:r>
              <a:rPr lang="en-US" sz="14164" b="1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THANK YOU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6987195" y="8947571"/>
            <a:ext cx="7203889" cy="0"/>
          </a:xfrm>
          <a:prstGeom prst="line">
            <a:avLst/>
          </a:prstGeom>
          <a:ln w="38100" cap="flat">
            <a:solidFill>
              <a:srgbClr val="FFFFFF">
                <a:alpha val="24706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54152" y="1091702"/>
            <a:ext cx="7735144" cy="5524592"/>
            <a:chOff x="0" y="0"/>
            <a:chExt cx="10313525" cy="7366123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 t="8084" b="8084"/>
            <a:stretch>
              <a:fillRect/>
            </a:stretch>
          </p:blipFill>
          <p:spPr>
            <a:xfrm>
              <a:off x="0" y="0"/>
              <a:ext cx="10313525" cy="7366123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9524156" y="1091702"/>
            <a:ext cx="7735144" cy="5524592"/>
            <a:chOff x="0" y="0"/>
            <a:chExt cx="10313525" cy="7366123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/>
            <a:srcRect l="3286" r="3286"/>
            <a:stretch>
              <a:fillRect/>
            </a:stretch>
          </p:blipFill>
          <p:spPr>
            <a:xfrm>
              <a:off x="0" y="0"/>
              <a:ext cx="10313525" cy="73661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1259</TotalTime>
  <Words>286</Words>
  <Application>Microsoft Office PowerPoint</Application>
  <PresentationFormat>Custom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Elika Gorica</vt:lpstr>
      <vt:lpstr>Arial</vt:lpstr>
      <vt:lpstr>TT Ramillas Bold</vt:lpstr>
      <vt:lpstr>TT Ramillas</vt:lpstr>
      <vt:lpstr>Poppins</vt:lpstr>
      <vt:lpstr>Be Vietnam</vt:lpstr>
      <vt:lpstr>The Seasons</vt:lpstr>
      <vt:lpstr>Be Vietnam Ultra-Bold</vt:lpstr>
      <vt:lpstr>Calibri</vt:lpstr>
      <vt:lpstr>The Seasons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MANAGEMENT ONLINE</dc:title>
  <cp:lastModifiedBy>ACER</cp:lastModifiedBy>
  <cp:revision>5</cp:revision>
  <dcterms:created xsi:type="dcterms:W3CDTF">2006-08-16T00:00:00Z</dcterms:created>
  <dcterms:modified xsi:type="dcterms:W3CDTF">2026-08-11T13:38:24Z</dcterms:modified>
  <dc:identifier>DAHQkUYTbAo</dc:identifier>
</cp:coreProperties>
</file>